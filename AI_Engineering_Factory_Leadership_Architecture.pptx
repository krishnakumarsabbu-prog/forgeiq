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7899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800" b="1">
                <a:solidFill>
                  <a:srgbClr val="192337"/>
                </a:solidFill>
                <a:latin typeface="Aptos"/>
              </a:rPr>
              <a:t>AI ENGINEERING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64208"/>
            <a:ext cx="1024128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0">
                <a:solidFill>
                  <a:srgbClr val="7D3FDC"/>
                </a:solidFill>
                <a:latin typeface="Aptos"/>
              </a:rPr>
              <a:t>Engineering how AI builds software — not just building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77724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83040"/>
                </a:solidFill>
                <a:latin typeface="Aptos"/>
              </a:rPr>
              <a:t>Leadership Architecture &amp; Operating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86200"/>
            <a:ext cx="1417320" cy="594360"/>
          </a:xfrm>
          <a:prstGeom prst="roundRect">
            <a:avLst/>
          </a:prstGeom>
          <a:solidFill>
            <a:srgbClr val="FAF8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931920"/>
            <a:ext cx="1325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REQUIREMENT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4187952"/>
            <a:ext cx="50292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3794760"/>
            <a:ext cx="1325880" cy="777240"/>
          </a:xfrm>
          <a:prstGeom prst="roundRect">
            <a:avLst/>
          </a:prstGeom>
          <a:solidFill>
            <a:srgbClr val="F6F1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3840480"/>
            <a:ext cx="1234439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92337"/>
                </a:solidFill>
                <a:latin typeface="Aptos"/>
              </a:rPr>
              <a:t>HARNESS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6240" y="4187952"/>
            <a:ext cx="50292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54880" y="3886200"/>
            <a:ext cx="1234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3931920"/>
            <a:ext cx="1143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GRAPH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4187952"/>
            <a:ext cx="50292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37960" y="3886200"/>
            <a:ext cx="1234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931920"/>
            <a:ext cx="1143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LOOP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0" y="4187952"/>
            <a:ext cx="50292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21040" y="3794760"/>
            <a:ext cx="2148840" cy="777240"/>
          </a:xfrm>
          <a:prstGeom prst="roundRect">
            <a:avLst/>
          </a:prstGeom>
          <a:solidFill>
            <a:srgbClr val="F6FBF9"/>
          </a:solidFill>
          <a:ln w="12700">
            <a:solidFill>
              <a:srgbClr val="2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840480"/>
            <a:ext cx="20574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AGENTS + SKILLS +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646E7D"/>
                </a:solidFill>
                <a:latin typeface="Aptos"/>
              </a:rPr>
              <a:t>Governed • Executable • Evidence-driven • Multi-tenant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Why this platform?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Move from AI-assisted coding to an AI-native engineering operating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290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0292" cy="1828800"/>
          </a:xfrm>
          <a:prstGeom prst="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3736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92337"/>
                </a:solidFill>
                <a:latin typeface="Aptos"/>
              </a:rPr>
              <a:t>Today: fragmented AI assistance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03120"/>
            <a:ext cx="3108960" cy="1234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83040"/>
                </a:solidFill>
                <a:latin typeface="Aptos"/>
              </a:rPr>
              <a:t>Different copilots, agents, scripts and CI/CD tools operate independently. Context is lost, controls vary, and failure recovery is mostly manual.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290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50292" cy="1828800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3736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92337"/>
                </a:solidFill>
                <a:latin typeface="Aptos"/>
              </a:rPr>
              <a:t>Target: governed AI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03120"/>
            <a:ext cx="3108960" cy="1234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83040"/>
                </a:solidFill>
                <a:latin typeface="Aptos"/>
              </a:rPr>
              <a:t>A reusable control plane defines how AI plans, codes, tests, secures, releases, deploys, verifies and remediates software.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4290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00200"/>
            <a:ext cx="50292" cy="1828800"/>
          </a:xfrm>
          <a:prstGeom prst="rect">
            <a:avLst/>
          </a:prstGeom>
          <a:solidFill>
            <a:srgbClr val="2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73736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92337"/>
                </a:solidFill>
                <a:latin typeface="Aptos"/>
              </a:rPr>
              <a:t>Strategic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103120"/>
            <a:ext cx="3108960" cy="1234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83040"/>
                </a:solidFill>
                <a:latin typeface="Aptos"/>
              </a:rPr>
              <a:t>Engineering becomes a repeatable factory: measurable, auditable, policy-driven and continuously improved.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The shift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2103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2011679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2337"/>
                </a:solidFill>
                <a:latin typeface="Aptos"/>
              </a:rPr>
              <a:t>AI as assistant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4800600"/>
            <a:ext cx="914400" cy="0"/>
          </a:xfrm>
          <a:prstGeom prst="line">
            <a:avLst/>
          </a:prstGeom>
          <a:ln w="254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931920" y="4480560"/>
            <a:ext cx="2560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4526280"/>
            <a:ext cx="2468879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2337"/>
                </a:solidFill>
                <a:latin typeface="Aptos"/>
              </a:rPr>
              <a:t>AI as engineering worker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0" y="4800600"/>
            <a:ext cx="914399" cy="0"/>
          </a:xfrm>
          <a:prstGeom prst="line">
            <a:avLst/>
          </a:prstGeom>
          <a:ln w="254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89520" y="4480560"/>
            <a:ext cx="3383280" cy="640080"/>
          </a:xfrm>
          <a:prstGeom prst="roundRect">
            <a:avLst/>
          </a:prstGeom>
          <a:solidFill>
            <a:srgbClr val="F6F1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4526280"/>
            <a:ext cx="32918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2337"/>
                </a:solidFill>
                <a:latin typeface="Aptos"/>
              </a:rPr>
              <a:t>AI as governed engineering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The core operating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Each abstraction has one job — together they form an executable engineering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0292" cy="1691640"/>
          </a:xfrm>
          <a:prstGeom prst="rect">
            <a:avLst/>
          </a:prstGeom>
          <a:solidFill>
            <a:srgbClr val="3C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45919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1168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Lifecycle composition of engineering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651760"/>
            <a:ext cx="21488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646E7D"/>
                </a:solidFill>
                <a:latin typeface="Aptos"/>
              </a:rPr>
              <a:t>How do we move across the lifecycle?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0876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508760"/>
            <a:ext cx="50292" cy="1691640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645919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01168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Governed execution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651760"/>
            <a:ext cx="21488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646E7D"/>
                </a:solidFill>
                <a:latin typeface="Aptos"/>
              </a:rPr>
              <a:t>How is this capability allowed to run?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508760"/>
            <a:ext cx="50292" cy="1691640"/>
          </a:xfrm>
          <a:prstGeom prst="rect">
            <a:avLst/>
          </a:prstGeom>
          <a:solidFill>
            <a:srgbClr val="9A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645919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01168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Executable engineering topology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651760"/>
            <a:ext cx="21488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646E7D"/>
                </a:solidFill>
                <a:latin typeface="Aptos"/>
              </a:rPr>
              <a:t>What happens, in what relationship?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50876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508760"/>
            <a:ext cx="50292" cy="1691640"/>
          </a:xfrm>
          <a:prstGeom prst="rect">
            <a:avLst/>
          </a:prstGeom>
          <a:solidFill>
            <a:srgbClr val="D2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1645919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01168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Adaptive recovery mechanism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651760"/>
            <a:ext cx="21488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646E7D"/>
                </a:solidFill>
                <a:latin typeface="Aptos"/>
              </a:rPr>
              <a:t>What happens when validation fails?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65760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657600"/>
            <a:ext cx="50292" cy="1691640"/>
          </a:xfrm>
          <a:prstGeom prst="rect">
            <a:avLst/>
          </a:prstGeom>
          <a:solidFill>
            <a:srgbClr val="2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3794760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416052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Engineering worker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4800600"/>
            <a:ext cx="21488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646E7D"/>
                </a:solidFill>
                <a:latin typeface="Aptos"/>
              </a:rPr>
              <a:t>Who performs the work?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365760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3657600"/>
            <a:ext cx="50292" cy="1691640"/>
          </a:xfrm>
          <a:prstGeom prst="rect">
            <a:avLst/>
          </a:prstGeom>
          <a:solidFill>
            <a:srgbClr val="3C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3794760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Skill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9312" y="416052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Reusable capability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9312" y="4800600"/>
            <a:ext cx="21488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646E7D"/>
                </a:solidFill>
                <a:latin typeface="Aptos"/>
              </a:rPr>
              <a:t>What does the worker know how to do?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65760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657600"/>
            <a:ext cx="50292" cy="1691640"/>
          </a:xfrm>
          <a:prstGeom prst="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3794760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Tool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416052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Controlled execution capability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4800600"/>
            <a:ext cx="21488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646E7D"/>
                </a:solidFill>
                <a:latin typeface="Aptos"/>
              </a:rPr>
              <a:t>What can the worker actually touch?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65760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3657600"/>
            <a:ext cx="50292" cy="169164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8592" y="3794760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416052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Proof of execution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8592" y="4800600"/>
            <a:ext cx="21488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646E7D"/>
                </a:solidFill>
                <a:latin typeface="Aptos"/>
              </a:rPr>
              <a:t>What happened and why?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Reference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React is the engineering control plane; Python is the executable engineering plane.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566928"/>
          </a:xfrm>
          <a:prstGeom prst="roundRect">
            <a:avLst/>
          </a:prstGeom>
          <a:solidFill>
            <a:srgbClr val="F6F1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104241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2337"/>
                </a:solidFill>
                <a:latin typeface="Aptos"/>
              </a:rPr>
              <a:t>ENGINEERING CONTROL PLANE — React /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75688"/>
            <a:ext cx="10058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646E7D"/>
                </a:solidFill>
                <a:latin typeface="Aptos"/>
              </a:rPr>
              <a:t>Command Center  •  Applications  •  Agent Factory  •  Harness Builder  •  Graph  •  Loop  •  Pipeline  •  Executions  • 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560320"/>
            <a:ext cx="88696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2606039"/>
            <a:ext cx="87782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92337"/>
                </a:solidFill>
                <a:latin typeface="Aptos"/>
              </a:rPr>
              <a:t>API / EVENT GATEWAY — FastAPI + SSE/WebSocket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221992"/>
            <a:ext cx="0" cy="338328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337560"/>
            <a:ext cx="187451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83279"/>
            <a:ext cx="1783079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Pipeline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3337560"/>
            <a:ext cx="187451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3383279"/>
            <a:ext cx="1783079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Harness 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337560"/>
            <a:ext cx="187451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3383279"/>
            <a:ext cx="1783079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Graph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337560"/>
            <a:ext cx="187451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383279"/>
            <a:ext cx="1783079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Loop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3337560"/>
            <a:ext cx="187451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3383279"/>
            <a:ext cx="1783079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Evidence Engine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572768" y="3090672"/>
            <a:ext cx="4507992" cy="246888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813048" y="3090672"/>
            <a:ext cx="2267712" cy="246888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053328" y="3090672"/>
            <a:ext cx="27432" cy="246888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80760" y="3090672"/>
            <a:ext cx="2212848" cy="246888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80760" y="3090672"/>
            <a:ext cx="4453128" cy="246888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920240" y="461772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4663440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92337"/>
                </a:solidFill>
                <a:latin typeface="Aptos"/>
              </a:rPr>
              <a:t>Agent Runtime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461772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663440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92337"/>
                </a:solidFill>
                <a:latin typeface="Aptos"/>
              </a:rPr>
              <a:t>Tool Runtime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4617720"/>
            <a:ext cx="2514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4663440"/>
            <a:ext cx="2423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92337"/>
                </a:solidFill>
                <a:latin typeface="Aptos"/>
              </a:rPr>
              <a:t>Policy + Context + Risk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971800" y="4023360"/>
            <a:ext cx="457200" cy="59436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5623560" y="4023360"/>
            <a:ext cx="457200" cy="59436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21040" y="4023360"/>
            <a:ext cx="228600" cy="59436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234440" y="5623560"/>
            <a:ext cx="9784080" cy="594360"/>
          </a:xfrm>
          <a:prstGeom prst="roundRect">
            <a:avLst/>
          </a:prstGeom>
          <a:solidFill>
            <a:srgbClr val="F6FBF9"/>
          </a:solidFill>
          <a:ln w="12700">
            <a:solidFill>
              <a:srgbClr val="2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5669280"/>
            <a:ext cx="96926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REAL ENGINEERING: Git • Filesystem • Build • Test • Sonar • Security • Artifact • Deployment • Verification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71800" y="5303520"/>
            <a:ext cx="960120" cy="320040"/>
          </a:xfrm>
          <a:prstGeom prst="line">
            <a:avLst/>
          </a:prstGeom>
          <a:ln w="17780">
            <a:solidFill>
              <a:srgbClr val="2896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623560" y="5303520"/>
            <a:ext cx="457200" cy="320040"/>
          </a:xfrm>
          <a:prstGeom prst="line">
            <a:avLst/>
          </a:prstGeom>
          <a:ln w="17780">
            <a:solidFill>
              <a:srgbClr val="2896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046720" y="5303520"/>
            <a:ext cx="502920" cy="320040"/>
          </a:xfrm>
          <a:prstGeom prst="line">
            <a:avLst/>
          </a:prstGeom>
          <a:ln w="17780">
            <a:solidFill>
              <a:srgbClr val="2896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Harness Engineering — the governance backbone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A Harness is not a flowchart. It is the executable contract that governs an engineering capability.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2377440"/>
            <a:ext cx="2194560" cy="914400"/>
          </a:xfrm>
          <a:prstGeom prst="roundRect">
            <a:avLst/>
          </a:prstGeom>
          <a:solidFill>
            <a:srgbClr val="F6F1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423160"/>
            <a:ext cx="2103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92337"/>
                </a:solidFill>
                <a:latin typeface="Aptos"/>
              </a:rPr>
              <a:t>HARNESS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17373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Context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1700784"/>
            <a:ext cx="2240280" cy="0"/>
          </a:xfrm>
          <a:prstGeom prst="line">
            <a:avLst/>
          </a:prstGeom>
          <a:ln w="15240">
            <a:solidFill>
              <a:srgbClr val="3C7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274320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5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17373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Graph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026664"/>
            <a:ext cx="2240280" cy="0"/>
          </a:xfrm>
          <a:prstGeom prst="line">
            <a:avLst/>
          </a:prstGeom>
          <a:ln w="15240">
            <a:solidFill>
              <a:srgbClr val="9A5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406908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17373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Loop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4352544"/>
            <a:ext cx="2240280" cy="0"/>
          </a:xfrm>
          <a:prstGeom prst="line">
            <a:avLst/>
          </a:prstGeom>
          <a:ln w="15240">
            <a:solidFill>
              <a:srgbClr val="D29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18320" y="141732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1463040"/>
            <a:ext cx="17373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Agents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78040" y="1700784"/>
            <a:ext cx="2240280" cy="0"/>
          </a:xfrm>
          <a:prstGeom prst="line">
            <a:avLst/>
          </a:prstGeom>
          <a:ln w="15240">
            <a:solidFill>
              <a:srgbClr val="2896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18320" y="274320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788920"/>
            <a:ext cx="17373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Skills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178040" y="3026664"/>
            <a:ext cx="2240280" cy="0"/>
          </a:xfrm>
          <a:prstGeom prst="line">
            <a:avLst/>
          </a:prstGeom>
          <a:ln w="15240">
            <a:solidFill>
              <a:srgbClr val="3C7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18320" y="406908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4114800"/>
            <a:ext cx="17373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Tools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178040" y="4352544"/>
            <a:ext cx="2240280" cy="0"/>
          </a:xfrm>
          <a:prstGeom prst="line">
            <a:avLst/>
          </a:prstGeom>
          <a:ln w="15240">
            <a:solidFill>
              <a:srgbClr val="CD4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291840" y="516636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5212080"/>
            <a:ext cx="17373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Policies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983480" y="5449824"/>
            <a:ext cx="137160" cy="0"/>
          </a:xfrm>
          <a:prstGeom prst="line">
            <a:avLst/>
          </a:prstGeom>
          <a:ln w="15240">
            <a:solidFill>
              <a:srgbClr val="D29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040880" y="516636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5212080"/>
            <a:ext cx="17373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40880" y="5449824"/>
            <a:ext cx="137160" cy="0"/>
          </a:xfrm>
          <a:prstGeom prst="line">
            <a:avLst/>
          </a:prstGeom>
          <a:ln w="15240">
            <a:solidFill>
              <a:srgbClr val="19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194560" y="5989320"/>
            <a:ext cx="7955279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646E7D"/>
                </a:solidFill>
                <a:latin typeface="Aptos"/>
              </a:rPr>
              <a:t>Inputs • Outputs • Permissions • Environment • Model • Retry • Approval • Failure • Escalation • Cost •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Graph Engineering — define the engineering topology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Graphs turn engineering methodology into executable nodes, dependencies, decisions and branches.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3258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Understand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2249424"/>
            <a:ext cx="2286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04288" y="192024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1965960"/>
            <a:ext cx="13258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Test Cases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21608" y="2249424"/>
            <a:ext cx="2286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14216" y="1920240"/>
            <a:ext cx="1280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936" y="1965960"/>
            <a:ext cx="118871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Approve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94376" y="2249424"/>
            <a:ext cx="2286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86984" y="192024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1965960"/>
            <a:ext cx="13258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Implement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04304" y="2249424"/>
            <a:ext cx="2286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96912" y="19202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2" y="1965960"/>
            <a:ext cx="10515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Test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39912" y="2249424"/>
            <a:ext cx="2286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32520" y="192024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965960"/>
            <a:ext cx="12344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Evaluate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154680"/>
            <a:ext cx="1143000" cy="548640"/>
          </a:xfrm>
          <a:prstGeom prst="roundRect">
            <a:avLst/>
          </a:prstGeom>
          <a:solidFill>
            <a:srgbClr val="F6FBF9"/>
          </a:solidFill>
          <a:ln w="12700">
            <a:solidFill>
              <a:srgbClr val="2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200400"/>
            <a:ext cx="1051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PASS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154680"/>
            <a:ext cx="1143000" cy="548640"/>
          </a:xfrm>
          <a:prstGeom prst="roundRect">
            <a:avLst/>
          </a:prstGeom>
          <a:solidFill>
            <a:srgbClr val="FDF7F7"/>
          </a:solidFill>
          <a:ln w="12700">
            <a:solidFill>
              <a:srgbClr val="CD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200400"/>
            <a:ext cx="1051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FAIL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166360" y="2578608"/>
            <a:ext cx="365760" cy="576072"/>
          </a:xfrm>
          <a:prstGeom prst="line">
            <a:avLst/>
          </a:prstGeom>
          <a:ln w="17780">
            <a:solidFill>
              <a:srgbClr val="2896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32120" y="2578608"/>
            <a:ext cx="1417320" cy="576072"/>
          </a:xfrm>
          <a:prstGeom prst="line">
            <a:avLst/>
          </a:prstGeom>
          <a:ln w="17780">
            <a:solidFill>
              <a:srgbClr val="CD4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160520" y="4251960"/>
            <a:ext cx="20574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297680"/>
            <a:ext cx="19659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Continue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251960"/>
            <a:ext cx="24231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297680"/>
            <a:ext cx="23317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Failure Analysis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84648" y="3703320"/>
            <a:ext cx="0" cy="548640"/>
          </a:xfrm>
          <a:prstGeom prst="line">
            <a:avLst/>
          </a:prstGeom>
          <a:ln w="17780">
            <a:solidFill>
              <a:srgbClr val="2896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967728" y="3703320"/>
            <a:ext cx="347472" cy="548640"/>
          </a:xfrm>
          <a:prstGeom prst="line">
            <a:avLst/>
          </a:prstGeom>
          <a:ln w="17780">
            <a:solidFill>
              <a:srgbClr val="CD4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525780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92337"/>
                </a:solidFill>
                <a:latin typeface="Aptos"/>
              </a:rPr>
              <a:t>Graph capabilities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62356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83040"/>
                </a:solidFill>
                <a:latin typeface="Aptos"/>
              </a:rPr>
              <a:t>Sequential • Parallel • Conditional • Decision • Merge • Human Task • Verification • Environment • Artifact • Evidence • Failure Handler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Loop Engineering — make AI resilient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Loops turn failure into controlled engineering recovery rather than blind retries.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828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ENGINEERING ACTION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2386584"/>
            <a:ext cx="4572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08960" y="20574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79" y="2103120"/>
            <a:ext cx="14630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VALIDATE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2386584"/>
            <a:ext cx="457200" cy="0"/>
          </a:xfrm>
          <a:prstGeom prst="line">
            <a:avLst/>
          </a:prstGeom>
          <a:ln w="17780">
            <a:solidFill>
              <a:srgbClr val="3C7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66360" y="20574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103120"/>
            <a:ext cx="14630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EVALUATE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20840" y="2386584"/>
            <a:ext cx="457200" cy="0"/>
          </a:xfrm>
          <a:prstGeom prst="line">
            <a:avLst/>
          </a:prstGeom>
          <a:ln w="17780">
            <a:solidFill>
              <a:srgbClr val="D29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23760" y="2057400"/>
            <a:ext cx="1280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103120"/>
            <a:ext cx="118871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PASS?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503920" y="1600200"/>
            <a:ext cx="640080" cy="786384"/>
          </a:xfrm>
          <a:prstGeom prst="line">
            <a:avLst/>
          </a:prstGeom>
          <a:ln w="17780">
            <a:solidFill>
              <a:srgbClr val="2896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20" y="2386584"/>
            <a:ext cx="640080" cy="950976"/>
          </a:xfrm>
          <a:prstGeom prst="line">
            <a:avLst/>
          </a:prstGeom>
          <a:ln w="17780">
            <a:solidFill>
              <a:srgbClr val="CD4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0" y="1280160"/>
            <a:ext cx="1645920" cy="594360"/>
          </a:xfrm>
          <a:prstGeom prst="roundRect">
            <a:avLst/>
          </a:prstGeom>
          <a:solidFill>
            <a:srgbClr val="F6FBF9"/>
          </a:solidFill>
          <a:ln w="12700">
            <a:solidFill>
              <a:srgbClr val="2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325880"/>
            <a:ext cx="1554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CONTINUE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017520"/>
            <a:ext cx="2011680" cy="594360"/>
          </a:xfrm>
          <a:prstGeom prst="roundRect">
            <a:avLst/>
          </a:prstGeom>
          <a:solidFill>
            <a:srgbClr val="FDF7F7"/>
          </a:solidFill>
          <a:ln w="12700">
            <a:solidFill>
              <a:srgbClr val="CD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3063239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DIAGNOSE → FIX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49840" y="3017520"/>
            <a:ext cx="0" cy="1325880"/>
          </a:xfrm>
          <a:prstGeom prst="line">
            <a:avLst/>
          </a:prstGeom>
          <a:ln w="17780">
            <a:solidFill>
              <a:srgbClr val="CD4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43800" y="4343400"/>
            <a:ext cx="31089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4389120"/>
            <a:ext cx="30175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RETRY / RECOVER / ESCALATE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886200" y="4681728"/>
            <a:ext cx="3657600" cy="0"/>
          </a:xfrm>
          <a:prstGeom prst="line">
            <a:avLst/>
          </a:prstGeom>
          <a:ln w="17780">
            <a:solidFill>
              <a:srgbClr val="CD4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886200" y="2743200"/>
            <a:ext cx="0" cy="1938528"/>
          </a:xfrm>
          <a:prstGeom prst="line">
            <a:avLst/>
          </a:prstGeom>
          <a:ln w="17780">
            <a:solidFill>
              <a:srgbClr val="CD4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54864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92337"/>
                </a:solidFill>
                <a:latin typeface="Aptos"/>
              </a:rPr>
              <a:t>Loop controls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33872"/>
            <a:ext cx="107899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83040"/>
                </a:solidFill>
                <a:latin typeface="Aptos"/>
              </a:rPr>
              <a:t>Failure classification • Max iterations • Backoff • Fix strategy • Exit conditions • Human escalation • Cost/time limits • Evidence per iteration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Agent Factory — generate Harness-compatible engineering workers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Custom Agents are generated once, then automatically conform to the platform execution contract.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Natural-language Agent Intent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167128"/>
            <a:ext cx="50292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00400" y="1645920"/>
            <a:ext cx="1828800" cy="1051560"/>
          </a:xfrm>
          <a:prstGeom prst="roundRect">
            <a:avLst/>
          </a:prstGeom>
          <a:solidFill>
            <a:srgbClr val="F6F1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691640"/>
            <a:ext cx="1737360" cy="9601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2337"/>
                </a:solidFill>
                <a:latin typeface="Aptos"/>
              </a:rPr>
              <a:t>Agent Factory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2167128"/>
            <a:ext cx="4572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32120" y="1417320"/>
            <a:ext cx="27432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32120" y="1417320"/>
            <a:ext cx="50292" cy="1508760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554480"/>
            <a:ext cx="24231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92337"/>
                </a:solidFill>
                <a:latin typeface="Aptos"/>
              </a:rPr>
              <a:t>Generated Agent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1920240"/>
            <a:ext cx="2423160" cy="9143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Purpose • Input/Output schema • Context • Model • Skills • Tools • Limits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75320" y="2167128"/>
            <a:ext cx="4572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78240" y="1783080"/>
            <a:ext cx="2468880" cy="777240"/>
          </a:xfrm>
          <a:prstGeom prst="roundRect">
            <a:avLst/>
          </a:prstGeom>
          <a:solidFill>
            <a:srgbClr val="F6FBF9"/>
          </a:solidFill>
          <a:ln w="12700">
            <a:solidFill>
              <a:srgbClr val="2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828800"/>
            <a:ext cx="23774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92337"/>
                </a:solidFill>
                <a:latin typeface="Aptos"/>
              </a:rPr>
              <a:t>Harness Compatible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49039"/>
            <a:ext cx="1600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94759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Skills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572768" y="2560320"/>
            <a:ext cx="8439912" cy="1188719"/>
          </a:xfrm>
          <a:prstGeom prst="line">
            <a:avLst/>
          </a:prstGeom>
          <a:ln w="12700">
            <a:solidFill>
              <a:srgbClr val="3C7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017520" y="3749039"/>
            <a:ext cx="1600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3794759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Tools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813048" y="2560320"/>
            <a:ext cx="6199632" cy="1188719"/>
          </a:xfrm>
          <a:prstGeom prst="line">
            <a:avLst/>
          </a:prstGeom>
          <a:ln w="12700">
            <a:solidFill>
              <a:srgbClr val="CD4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257800" y="3749039"/>
            <a:ext cx="1600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5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3794759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Models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053328" y="2560320"/>
            <a:ext cx="3959352" cy="1188719"/>
          </a:xfrm>
          <a:prstGeom prst="line">
            <a:avLst/>
          </a:prstGeom>
          <a:ln w="12700">
            <a:solidFill>
              <a:srgbClr val="9A5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98080" y="3749039"/>
            <a:ext cx="1600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3794759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Policies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8293608" y="2560320"/>
            <a:ext cx="1719072" cy="1188719"/>
          </a:xfrm>
          <a:prstGeom prst="line">
            <a:avLst/>
          </a:prstGeom>
          <a:ln w="12700">
            <a:solidFill>
              <a:srgbClr val="D29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38360" y="3749039"/>
            <a:ext cx="1600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3794759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12680" y="2560320"/>
            <a:ext cx="521208" cy="1188719"/>
          </a:xfrm>
          <a:prstGeom prst="line">
            <a:avLst/>
          </a:prstGeom>
          <a:ln w="12700">
            <a:solidFill>
              <a:srgbClr val="19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192337"/>
                </a:solidFill>
                <a:latin typeface="Aptos"/>
              </a:rPr>
              <a:t>Result: a tenant can invent new engineering workers without inventing a new runtime.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646E7D"/>
                </a:solidFill>
                <a:latin typeface="Aptos"/>
              </a:rPr>
              <a:t>Example: “Create a Payment API Refactoring Agent” → contract + skills + tools + permissions + evidence + Harness compatibility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Scenario A — Greenfield: Requirement → new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A controlled path from business intent to a validated DEV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960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8686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80" b="1">
                <a:solidFill>
                  <a:srgbClr val="192337"/>
                </a:solidFill>
                <a:latin typeface="Aptos"/>
              </a:rPr>
              <a:t>Requirement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63040" y="2276856"/>
            <a:ext cx="128016" cy="0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18488" y="1920240"/>
            <a:ext cx="11430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4208" y="1965960"/>
            <a:ext cx="105156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80" b="1">
                <a:solidFill>
                  <a:srgbClr val="192337"/>
                </a:solidFill>
                <a:latin typeface="Aptos"/>
              </a:rPr>
              <a:t>New Artifact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61488" y="2276856"/>
            <a:ext cx="128016" cy="0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16936" y="1920240"/>
            <a:ext cx="960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1965960"/>
            <a:ext cx="8686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80" b="1">
                <a:solidFill>
                  <a:srgbClr val="192337"/>
                </a:solidFill>
                <a:latin typeface="Aptos"/>
              </a:rPr>
              <a:t>Story Viewer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77056" y="2276856"/>
            <a:ext cx="128016" cy="0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32504" y="1920240"/>
            <a:ext cx="960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8224" y="1965960"/>
            <a:ext cx="8686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80" b="1">
                <a:solidFill>
                  <a:srgbClr val="192337"/>
                </a:solidFill>
                <a:latin typeface="Aptos"/>
              </a:rPr>
              <a:t>Jira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92624" y="2276856"/>
            <a:ext cx="128016" cy="0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48072" y="1920240"/>
            <a:ext cx="12344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3792" y="1965960"/>
            <a:ext cx="114300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80" b="1">
                <a:solidFill>
                  <a:srgbClr val="192337"/>
                </a:solidFill>
                <a:latin typeface="Aptos"/>
              </a:rPr>
              <a:t>Story Harness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82512" y="2276856"/>
            <a:ext cx="128016" cy="0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37960" y="1920240"/>
            <a:ext cx="960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965960"/>
            <a:ext cx="8686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80" b="1">
                <a:solidFill>
                  <a:srgbClr val="192337"/>
                </a:solidFill>
                <a:latin typeface="Aptos"/>
              </a:rPr>
              <a:t>Tests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8080" y="2276856"/>
            <a:ext cx="128016" cy="0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53528" y="1920240"/>
            <a:ext cx="960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1965960"/>
            <a:ext cx="8686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80" b="1">
                <a:solidFill>
                  <a:srgbClr val="192337"/>
                </a:solidFill>
                <a:latin typeface="Aptos"/>
              </a:rPr>
              <a:t>Implement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13648" y="2276856"/>
            <a:ext cx="128016" cy="0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69096" y="1920240"/>
            <a:ext cx="960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14816" y="1965960"/>
            <a:ext cx="8686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80" b="1">
                <a:solidFill>
                  <a:srgbClr val="192337"/>
                </a:solidFill>
                <a:latin typeface="Aptos"/>
              </a:rPr>
              <a:t>Git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29216" y="2276856"/>
            <a:ext cx="128016" cy="0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884664" y="1920240"/>
            <a:ext cx="960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0384" y="1965960"/>
            <a:ext cx="8686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80" b="1">
                <a:solidFill>
                  <a:srgbClr val="192337"/>
                </a:solidFill>
                <a:latin typeface="Aptos"/>
              </a:rPr>
              <a:t>Sonar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844784" y="2276856"/>
            <a:ext cx="128016" cy="0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1000232" y="1920240"/>
            <a:ext cx="11430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45952" y="1965960"/>
            <a:ext cx="105156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80" b="1">
                <a:solidFill>
                  <a:srgbClr val="192337"/>
                </a:solidFill>
                <a:latin typeface="Aptos"/>
              </a:rPr>
              <a:t>Deploy DEV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143232" y="2276856"/>
            <a:ext cx="128016" cy="0"/>
          </a:xfrm>
          <a:prstGeom prst="line">
            <a:avLst/>
          </a:prstGeom>
          <a:ln w="1270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2298680" y="1920240"/>
            <a:ext cx="960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0" y="1965960"/>
            <a:ext cx="8686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80" b="1">
                <a:solidFill>
                  <a:srgbClr val="192337"/>
                </a:solidFill>
                <a:latin typeface="Aptos"/>
              </a:rPr>
              <a:t>Verify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3337560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3337560"/>
            <a:ext cx="50292" cy="1508760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347472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92337"/>
                </a:solidFill>
                <a:latin typeface="Aptos"/>
              </a:rPr>
              <a:t>What Harness adds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3840480"/>
            <a:ext cx="3108960" cy="9143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Story-by-story execution contract; required approvals; context; tools; quality gates; evidence; risk controls.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3337560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9120" y="3337560"/>
            <a:ext cx="50292" cy="1508760"/>
          </a:xfrm>
          <a:prstGeom prst="rect">
            <a:avLst/>
          </a:prstGeom>
          <a:solidFill>
            <a:srgbClr val="D2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53712" y="347472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92337"/>
                </a:solidFill>
                <a:latin typeface="Aptos"/>
              </a:rPr>
              <a:t>Where Graph + Loop add value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3840480"/>
            <a:ext cx="3108960" cy="9143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Graph defines the work sequence. Loop handles failed tests, Sonar failures, retries, fixes and escalation.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3337560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92440" y="3337560"/>
            <a:ext cx="50292" cy="1508760"/>
          </a:xfrm>
          <a:prstGeom prst="rect">
            <a:avLst/>
          </a:prstGeom>
          <a:solidFill>
            <a:srgbClr val="2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47472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92337"/>
                </a:solidFill>
                <a:latin typeface="Aptos"/>
              </a:rPr>
              <a:t>Engineering 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57031" y="3840480"/>
            <a:ext cx="3108960" cy="9143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Code + tests + commit + Sonar result + deployment result + verification + immutable evidence.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7D3FDC"/>
                </a:solidFill>
                <a:latin typeface="Aptos"/>
              </a:rPr>
              <a:t>One story at a time → independently validated → traceable → repeatable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Scenario B — Brownfield: Jira → existing Git → safe change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The Factory first builds semantic understanding of the existing application, then engineers the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737360"/>
            <a:ext cx="8961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783080"/>
            <a:ext cx="804672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192337"/>
                </a:solidFill>
                <a:latin typeface="Aptos"/>
              </a:rPr>
              <a:t>Jira Story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0" y="2103120"/>
            <a:ext cx="91440" cy="0"/>
          </a:xfrm>
          <a:prstGeom prst="line">
            <a:avLst/>
          </a:prstGeom>
          <a:ln w="1143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80744" y="1737360"/>
            <a:ext cx="8961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6464" y="1783080"/>
            <a:ext cx="804672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192337"/>
                </a:solidFill>
                <a:latin typeface="Aptos"/>
              </a:rPr>
              <a:t>Git Import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76856" y="2103120"/>
            <a:ext cx="91440" cy="0"/>
          </a:xfrm>
          <a:prstGeom prst="line">
            <a:avLst/>
          </a:prstGeom>
          <a:ln w="1143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77440" y="1737360"/>
            <a:ext cx="10515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783080"/>
            <a:ext cx="960119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192337"/>
                </a:solidFill>
                <a:latin typeface="Aptos"/>
              </a:rPr>
              <a:t>Semantic Discovery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29000" y="2103120"/>
            <a:ext cx="91440" cy="0"/>
          </a:xfrm>
          <a:prstGeom prst="line">
            <a:avLst/>
          </a:prstGeom>
          <a:ln w="1143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29584" y="1737360"/>
            <a:ext cx="10515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1783080"/>
            <a:ext cx="960119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192337"/>
                </a:solidFill>
                <a:latin typeface="Aptos"/>
              </a:rPr>
              <a:t>Wiki + State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81144" y="2103120"/>
            <a:ext cx="91439" cy="0"/>
          </a:xfrm>
          <a:prstGeom prst="line">
            <a:avLst/>
          </a:prstGeom>
          <a:ln w="1143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81728" y="1737360"/>
            <a:ext cx="10515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1783080"/>
            <a:ext cx="960119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192337"/>
                </a:solidFill>
                <a:latin typeface="Aptos"/>
              </a:rPr>
              <a:t>Impact Analysis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33288" y="2103120"/>
            <a:ext cx="91439" cy="0"/>
          </a:xfrm>
          <a:prstGeom prst="line">
            <a:avLst/>
          </a:prstGeom>
          <a:ln w="1143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833872" y="1737360"/>
            <a:ext cx="8961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9592" y="1783080"/>
            <a:ext cx="804672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192337"/>
                </a:solidFill>
                <a:latin typeface="Aptos"/>
              </a:rPr>
              <a:t>Test Cases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29983" y="2103120"/>
            <a:ext cx="91440" cy="0"/>
          </a:xfrm>
          <a:prstGeom prst="line">
            <a:avLst/>
          </a:prstGeom>
          <a:ln w="1143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30568" y="1737360"/>
            <a:ext cx="8961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1783080"/>
            <a:ext cx="804672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192337"/>
                </a:solidFill>
                <a:latin typeface="Aptos"/>
              </a:rPr>
              <a:t>Plan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26679" y="2103120"/>
            <a:ext cx="91440" cy="0"/>
          </a:xfrm>
          <a:prstGeom prst="line">
            <a:avLst/>
          </a:prstGeom>
          <a:ln w="1143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827264" y="1737360"/>
            <a:ext cx="8961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72984" y="1783080"/>
            <a:ext cx="804672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192337"/>
                </a:solidFill>
                <a:latin typeface="Aptos"/>
              </a:rPr>
              <a:t>Implement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23376" y="2103120"/>
            <a:ext cx="91440" cy="0"/>
          </a:xfrm>
          <a:prstGeom prst="line">
            <a:avLst/>
          </a:prstGeom>
          <a:ln w="1143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823960" y="1737360"/>
            <a:ext cx="8961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1783080"/>
            <a:ext cx="804672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192337"/>
                </a:solidFill>
                <a:latin typeface="Aptos"/>
              </a:rPr>
              <a:t>Test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20072" y="2103120"/>
            <a:ext cx="91440" cy="0"/>
          </a:xfrm>
          <a:prstGeom prst="line">
            <a:avLst/>
          </a:prstGeom>
          <a:ln w="1143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20656" y="1737360"/>
            <a:ext cx="8961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66376" y="1783080"/>
            <a:ext cx="804672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192337"/>
                </a:solidFill>
                <a:latin typeface="Aptos"/>
              </a:rPr>
              <a:t>Sonar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716768" y="2103120"/>
            <a:ext cx="91440" cy="0"/>
          </a:xfrm>
          <a:prstGeom prst="line">
            <a:avLst/>
          </a:prstGeom>
          <a:ln w="1143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17352" y="1737360"/>
            <a:ext cx="8961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63072" y="1783080"/>
            <a:ext cx="804672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192337"/>
                </a:solidFill>
                <a:latin typeface="Aptos"/>
              </a:rPr>
              <a:t>Deploy DEV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713464" y="2103120"/>
            <a:ext cx="91440" cy="0"/>
          </a:xfrm>
          <a:prstGeom prst="line">
            <a:avLst/>
          </a:prstGeom>
          <a:ln w="1143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1814048" y="1737360"/>
            <a:ext cx="8961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59768" y="1783080"/>
            <a:ext cx="804672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192337"/>
                </a:solidFill>
                <a:latin typeface="Aptos"/>
              </a:rPr>
              <a:t>Verify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3063240"/>
            <a:ext cx="34290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" y="3063240"/>
            <a:ext cx="50292" cy="1645920"/>
          </a:xfrm>
          <a:prstGeom prst="rect">
            <a:avLst/>
          </a:prstGeom>
          <a:solidFill>
            <a:srgbClr val="3C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" y="320040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92337"/>
                </a:solidFill>
                <a:latin typeface="Aptos"/>
              </a:rPr>
              <a:t>Semantic discovery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3566160"/>
            <a:ext cx="3108960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30" b="0">
                <a:solidFill>
                  <a:srgbClr val="283040"/>
                </a:solidFill>
                <a:latin typeface="Aptos"/>
              </a:rPr>
              <a:t>Repository, architecture, APIs, dependencies, tests, security, build/deployment and documentation become Engineering State.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3063240"/>
            <a:ext cx="34290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3063240"/>
            <a:ext cx="50292" cy="1645920"/>
          </a:xfrm>
          <a:prstGeom prst="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53712" y="320040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92337"/>
                </a:solidFill>
                <a:latin typeface="Aptos"/>
              </a:rPr>
              <a:t>Risk-aware Harness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3566160"/>
            <a:ext cx="3108960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30" b="0">
                <a:solidFill>
                  <a:srgbClr val="283040"/>
                </a:solidFill>
                <a:latin typeface="Aptos"/>
              </a:rPr>
              <a:t>Database/API/auth/security/production-impacting changes can force approval before tools execute.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3063240"/>
            <a:ext cx="34290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2440" y="3063240"/>
            <a:ext cx="50292" cy="1645920"/>
          </a:xfrm>
          <a:prstGeom prst="rect">
            <a:avLst/>
          </a:prstGeom>
          <a:solidFill>
            <a:srgbClr val="D2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57031" y="320040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92337"/>
                </a:solidFill>
                <a:latin typeface="Aptos"/>
              </a:rPr>
              <a:t>Adaptive Loop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3566160"/>
            <a:ext cx="3108960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30" b="0">
                <a:solidFill>
                  <a:srgbClr val="283040"/>
                </a:solidFill>
                <a:latin typeface="Aptos"/>
              </a:rPr>
              <a:t>If tests or Sonar fail: classify → diagnose → fix → re-test. If risk is high: escalate to a human.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25780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192337"/>
                </a:solidFill>
                <a:latin typeface="Aptos"/>
              </a:rPr>
              <a:t>Brownfield advantage: the AI engineers against application context — not against a blank prompt.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The Story Engineering 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The reusable unit of work that turns one approved story into a governed engineering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Story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50876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55448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Generate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50876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55448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Human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50876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55448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150876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55448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Implement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5760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Run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65760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370332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Evaluate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365760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370332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Git Check-in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65760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370332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Sonar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365760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370332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Verify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23160" y="1837943"/>
            <a:ext cx="36576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63440" y="1837943"/>
            <a:ext cx="36576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03720" y="1837943"/>
            <a:ext cx="36576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1837943"/>
            <a:ext cx="36576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555480" y="2167128"/>
            <a:ext cx="0" cy="1261872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423160" y="3986784"/>
            <a:ext cx="36576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63440" y="3986784"/>
            <a:ext cx="36576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03720" y="3986784"/>
            <a:ext cx="36576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144000" y="3986784"/>
            <a:ext cx="36576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492240" y="4800600"/>
            <a:ext cx="1097280" cy="502920"/>
          </a:xfrm>
          <a:prstGeom prst="roundRect">
            <a:avLst/>
          </a:prstGeom>
          <a:solidFill>
            <a:srgbClr val="FDF7F7"/>
          </a:solidFill>
          <a:ln w="12700">
            <a:solidFill>
              <a:srgbClr val="CD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59" y="4846320"/>
            <a:ext cx="100583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FAIL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4709160"/>
            <a:ext cx="2743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4754880"/>
            <a:ext cx="26517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Diagnose → Fix → Retry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92240" y="4315968"/>
            <a:ext cx="0" cy="484632"/>
          </a:xfrm>
          <a:prstGeom prst="line">
            <a:avLst/>
          </a:prstGeom>
          <a:ln w="17780">
            <a:solidFill>
              <a:srgbClr val="CD4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5486400" y="5056632"/>
            <a:ext cx="2103120" cy="0"/>
          </a:xfrm>
          <a:prstGeom prst="line">
            <a:avLst/>
          </a:prstGeom>
          <a:ln w="17780">
            <a:solidFill>
              <a:srgbClr val="CD4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1">
                <a:solidFill>
                  <a:srgbClr val="192337"/>
                </a:solidFill>
                <a:latin typeface="Aptos"/>
              </a:rPr>
              <a:t>Same Harness can be reused across hundreds of stories; only context, application and selected engineering agents vary.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Pipeline Engineering — compose governed Harnesses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Pipeline is lifecycle orchestration; Harness owns the semantics of each engineering capability.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57400"/>
            <a:ext cx="126187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70431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Requirement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73351" y="2386584"/>
            <a:ext cx="109728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47088" y="2057400"/>
            <a:ext cx="126187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2807" y="2103120"/>
            <a:ext cx="1170431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Development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386584"/>
            <a:ext cx="109728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82696" y="2057400"/>
            <a:ext cx="126187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8415" y="2103120"/>
            <a:ext cx="1170431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Testing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44568" y="2386584"/>
            <a:ext cx="109728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18304" y="2057400"/>
            <a:ext cx="126187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4024" y="2103120"/>
            <a:ext cx="1170431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Security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0176" y="2386584"/>
            <a:ext cx="109728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53912" y="2057400"/>
            <a:ext cx="126187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2103120"/>
            <a:ext cx="1170431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Build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15783" y="2386584"/>
            <a:ext cx="109728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89520" y="2057400"/>
            <a:ext cx="126187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103120"/>
            <a:ext cx="1170431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Release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51392" y="2386584"/>
            <a:ext cx="109727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25128" y="2057400"/>
            <a:ext cx="126187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2103120"/>
            <a:ext cx="1170431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Deployment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287000" y="2386584"/>
            <a:ext cx="109728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460736" y="2057400"/>
            <a:ext cx="126187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06456" y="2103120"/>
            <a:ext cx="1170431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429000"/>
            <a:ext cx="34290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3429000"/>
            <a:ext cx="50292" cy="960120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356616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92337"/>
                </a:solidFill>
                <a:latin typeface="Aptos"/>
              </a:rPr>
              <a:t>Development Harness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3931920"/>
            <a:ext cx="31089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80" b="0">
                <a:solidFill>
                  <a:srgbClr val="283040"/>
                </a:solidFill>
                <a:latin typeface="Aptos"/>
              </a:rPr>
              <a:t>Graph + Loop + Coding Agents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429000"/>
            <a:ext cx="34290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3429000"/>
            <a:ext cx="50292" cy="960120"/>
          </a:xfrm>
          <a:prstGeom prst="rect">
            <a:avLst/>
          </a:prstGeom>
          <a:solidFill>
            <a:srgbClr val="2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356616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92337"/>
                </a:solidFill>
                <a:latin typeface="Aptos"/>
              </a:rPr>
              <a:t>Testing Harness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3931920"/>
            <a:ext cx="31089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80" b="0">
                <a:solidFill>
                  <a:srgbClr val="283040"/>
                </a:solidFill>
                <a:latin typeface="Aptos"/>
              </a:rPr>
              <a:t>Test Graph + Fix Loop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3429000"/>
            <a:ext cx="34290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80" y="3429000"/>
            <a:ext cx="50292" cy="960120"/>
          </a:xfrm>
          <a:prstGeom prst="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2" y="356616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92337"/>
                </a:solidFill>
                <a:latin typeface="Aptos"/>
              </a:rPr>
              <a:t>Security Harness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2" y="3931920"/>
            <a:ext cx="31089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80" b="0">
                <a:solidFill>
                  <a:srgbClr val="283040"/>
                </a:solidFill>
                <a:latin typeface="Aptos"/>
              </a:rPr>
              <a:t>SAST/SCA + Remediation Loop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663440"/>
            <a:ext cx="34290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" y="4663440"/>
            <a:ext cx="50292" cy="960120"/>
          </a:xfrm>
          <a:prstGeom prst="rect">
            <a:avLst/>
          </a:prstGeom>
          <a:solidFill>
            <a:srgbClr val="2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480060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92337"/>
                </a:solidFill>
                <a:latin typeface="Aptos"/>
              </a:rPr>
              <a:t>Release Harness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" y="5166359"/>
            <a:ext cx="31089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80" b="0">
                <a:solidFill>
                  <a:srgbClr val="283040"/>
                </a:solidFill>
                <a:latin typeface="Aptos"/>
              </a:rPr>
              <a:t>Governance + Approval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4663440"/>
            <a:ext cx="34290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4663440"/>
            <a:ext cx="50292" cy="960120"/>
          </a:xfrm>
          <a:prstGeom prst="rect">
            <a:avLst/>
          </a:prstGeom>
          <a:solidFill>
            <a:srgbClr val="2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53712" y="480060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92337"/>
                </a:solidFill>
                <a:latin typeface="Aptos"/>
              </a:rPr>
              <a:t>Deployment Harness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5166359"/>
            <a:ext cx="31089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80" b="0">
                <a:solidFill>
                  <a:srgbClr val="283040"/>
                </a:solidFill>
                <a:latin typeface="Aptos"/>
              </a:rPr>
              <a:t>Environment + Recovery Loop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80" y="4663440"/>
            <a:ext cx="34290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83880" y="4663440"/>
            <a:ext cx="50292" cy="960120"/>
          </a:xfrm>
          <a:prstGeom prst="rect">
            <a:avLst/>
          </a:prstGeom>
          <a:solidFill>
            <a:srgbClr val="2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48472" y="4800600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92337"/>
                </a:solidFill>
                <a:latin typeface="Aptos"/>
              </a:rPr>
              <a:t>Verification Harness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2" y="5166359"/>
            <a:ext cx="31089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80" b="0">
                <a:solidFill>
                  <a:srgbClr val="283040"/>
                </a:solidFill>
                <a:latin typeface="Aptos"/>
              </a:rPr>
              <a:t>Evidence + Success 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CD4B50"/>
                </a:solidFill>
                <a:latin typeface="Aptos"/>
              </a:rPr>
              <a:t>Key rule: Pipeline never bypasses Harness semantics.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Evidence + Engineering State — the system remembers what happened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Every execution becomes auditable engineering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Requirement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0876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45920" y="269748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274320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Harness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69748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160020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64592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Graph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620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23360" y="269748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274320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Loop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07492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160020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164592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Agent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6364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0" y="269748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74320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Model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45236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89520" y="160020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164592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Context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4108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78240" y="269748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74320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Tool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982980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7200" y="160020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164592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Action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0876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645920" y="269748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274320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Code Change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269748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834640" y="160020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60" y="164592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Test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88620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023360" y="269748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69080" y="274320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Security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07492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212080" y="160020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164592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Build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6364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400800" y="269748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74320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Release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745236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589520" y="160020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164592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Deploy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641080" y="1865376"/>
            <a:ext cx="137160" cy="1097280"/>
          </a:xfrm>
          <a:prstGeom prst="line">
            <a:avLst/>
          </a:prstGeom>
          <a:ln w="1016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778240" y="2697480"/>
            <a:ext cx="1051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23960" y="2743200"/>
            <a:ext cx="9601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92337"/>
                </a:solidFill>
                <a:latin typeface="Aptos"/>
              </a:rPr>
              <a:t>Verify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31920" y="4069080"/>
            <a:ext cx="4297680" cy="777240"/>
          </a:xfrm>
          <a:prstGeom prst="roundRect">
            <a:avLst/>
          </a:prstGeom>
          <a:solidFill>
            <a:srgbClr val="F6F1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77639" y="4114800"/>
            <a:ext cx="4206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92337"/>
                </a:solidFill>
                <a:latin typeface="Aptos"/>
              </a:rPr>
              <a:t>ENGINEERING STATE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5074920"/>
            <a:ext cx="96012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283040"/>
                </a:solidFill>
                <a:latin typeface="Aptos"/>
              </a:rPr>
              <a:t>Current architecture • code • dependencies • tests • security • deployments • known issues • decisions • previous evidence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5897880"/>
            <a:ext cx="103327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192337"/>
                </a:solidFill>
                <a:latin typeface="Aptos"/>
              </a:rPr>
              <a:t>Result: future Agents operate with memory of the software — not just memory of the conversation.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Governance by 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No Agent, Tool or Pipeline action should execute outside the governed runtime.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3258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Agent Request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157984"/>
            <a:ext cx="2286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48840" y="182880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874519"/>
            <a:ext cx="13258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Permission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2157984"/>
            <a:ext cx="2286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94760" y="182880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874519"/>
            <a:ext cx="13258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Policy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12080" y="2157984"/>
            <a:ext cx="2286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40680" y="182880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874519"/>
            <a:ext cx="13258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Risk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2157984"/>
            <a:ext cx="2286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86600" y="182880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874519"/>
            <a:ext cx="13258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Environment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03920" y="2157984"/>
            <a:ext cx="2286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32520" y="182880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874519"/>
            <a:ext cx="13258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Execute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49840" y="2157984"/>
            <a:ext cx="2286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378440" y="182880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0" y="1874519"/>
            <a:ext cx="13258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337"/>
                </a:solidFill>
                <a:latin typeface="Aptos"/>
              </a:rPr>
              <a:t>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37560"/>
            <a:ext cx="3383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337560"/>
            <a:ext cx="50292" cy="960120"/>
          </a:xfrm>
          <a:prstGeom prst="rect">
            <a:avLst/>
          </a:prstGeom>
          <a:solidFill>
            <a:srgbClr val="D2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3474720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92337"/>
                </a:solidFill>
                <a:latin typeface="Aptos"/>
              </a:rPr>
              <a:t>Least privilege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3840480"/>
            <a:ext cx="30632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80" b="0">
                <a:solidFill>
                  <a:srgbClr val="283040"/>
                </a:solidFill>
                <a:latin typeface="Aptos"/>
              </a:rPr>
              <a:t>Tool and environment permissions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337560"/>
            <a:ext cx="3383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3337560"/>
            <a:ext cx="50292" cy="960120"/>
          </a:xfrm>
          <a:prstGeom prst="rect">
            <a:avLst/>
          </a:prstGeom>
          <a:solidFill>
            <a:srgbClr val="D2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3474720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92337"/>
                </a:solidFill>
                <a:latin typeface="Aptos"/>
              </a:rPr>
              <a:t>Production protection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3840480"/>
            <a:ext cx="30632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80" b="0">
                <a:solidFill>
                  <a:srgbClr val="283040"/>
                </a:solidFill>
                <a:latin typeface="Aptos"/>
              </a:rPr>
              <a:t>Approval + policy gates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59" y="3337560"/>
            <a:ext cx="3383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59" y="3337560"/>
            <a:ext cx="50292" cy="960120"/>
          </a:xfrm>
          <a:prstGeom prst="rect">
            <a:avLst/>
          </a:prstGeom>
          <a:solidFill>
            <a:srgbClr val="D2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1" y="3474720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92337"/>
                </a:solidFill>
                <a:latin typeface="Aptos"/>
              </a:rPr>
              <a:t>Cost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1" y="3840480"/>
            <a:ext cx="30632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80" b="0">
                <a:solidFill>
                  <a:srgbClr val="283040"/>
                </a:solidFill>
                <a:latin typeface="Aptos"/>
              </a:rPr>
              <a:t>Token / cost / time / retry limits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572000"/>
            <a:ext cx="3383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4572000"/>
            <a:ext cx="50292" cy="960120"/>
          </a:xfrm>
          <a:prstGeom prst="rect">
            <a:avLst/>
          </a:prstGeom>
          <a:solidFill>
            <a:srgbClr val="D2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" y="4709160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92337"/>
                </a:solidFill>
                <a:latin typeface="Aptos"/>
              </a:rPr>
              <a:t>Tenant isolation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" y="5074920"/>
            <a:ext cx="30632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80" b="0">
                <a:solidFill>
                  <a:srgbClr val="283040"/>
                </a:solidFill>
                <a:latin typeface="Aptos"/>
              </a:rPr>
              <a:t>Data + execution boundaries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4572000"/>
            <a:ext cx="3383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9120" y="4572000"/>
            <a:ext cx="50292" cy="960120"/>
          </a:xfrm>
          <a:prstGeom prst="rect">
            <a:avLst/>
          </a:prstGeom>
          <a:solidFill>
            <a:srgbClr val="D2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53712" y="4709160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92337"/>
                </a:solidFill>
                <a:latin typeface="Aptos"/>
              </a:rPr>
              <a:t>Auditability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5074920"/>
            <a:ext cx="30632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80" b="0">
                <a:solidFill>
                  <a:srgbClr val="283040"/>
                </a:solidFill>
                <a:latin typeface="Aptos"/>
              </a:rPr>
              <a:t>Immutable evidence and audit trail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59" y="4572000"/>
            <a:ext cx="3383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59" y="4572000"/>
            <a:ext cx="50292" cy="960120"/>
          </a:xfrm>
          <a:prstGeom prst="rect">
            <a:avLst/>
          </a:prstGeom>
          <a:solidFill>
            <a:srgbClr val="D2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2751" y="4709160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92337"/>
                </a:solidFill>
                <a:latin typeface="Aptos"/>
              </a:rPr>
              <a:t>Agent safety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02751" y="5074920"/>
            <a:ext cx="30632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80" b="0">
                <a:solidFill>
                  <a:srgbClr val="283040"/>
                </a:solidFill>
                <a:latin typeface="Aptos"/>
              </a:rPr>
              <a:t>Restricted capabilities and sandboxing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Leadership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The platform is a strategic engineering transformation, not another AI tool.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0292" cy="1508760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45919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11680"/>
            <a:ext cx="3063240" cy="9143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Automate repeatable engineering work and reduce handoffs.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50292" cy="1508760"/>
          </a:xfrm>
          <a:prstGeom prst="rect">
            <a:avLst/>
          </a:prstGeom>
          <a:solidFill>
            <a:srgbClr val="2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45919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11680"/>
            <a:ext cx="3063240" cy="9143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Tests, Sonar, security and verification become part of the execution loop.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50876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1508760"/>
            <a:ext cx="50292" cy="1508760"/>
          </a:xfrm>
          <a:prstGeom prst="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1" y="1645919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1" y="2011680"/>
            <a:ext cx="3063240" cy="9143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High-impact changes are policy- and approval-aware.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83279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83279"/>
            <a:ext cx="50292" cy="1508760"/>
          </a:xfrm>
          <a:prstGeom prst="rect">
            <a:avLst/>
          </a:prstGeom>
          <a:solidFill>
            <a:srgbClr val="3C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520439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886200"/>
            <a:ext cx="3063240" cy="9143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Teams reuse enterprise Harnesses, Skills and engineering patterns.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383279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383279"/>
            <a:ext cx="50292" cy="150876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520439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886200"/>
            <a:ext cx="3063240" cy="9143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Every AI action has evidence: agent, model, tool, change and result.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383279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59" y="3383279"/>
            <a:ext cx="50292" cy="1508760"/>
          </a:xfrm>
          <a:prstGeom prst="rect">
            <a:avLst/>
          </a:prstGeom>
          <a:solidFill>
            <a:srgbClr val="D2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1" y="3520439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Economics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1" y="3886200"/>
            <a:ext cx="3063240" cy="9143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Measure AI cost, retries, cycle time, throughput and engineering efficiency.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34924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Strategic 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257800"/>
            <a:ext cx="92354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7D3FDC"/>
                </a:solidFill>
                <a:latin typeface="Aptos"/>
              </a:rPr>
              <a:t>Standardize how AI engineers software — while allowing teams to customize the workers, skills and engineering paths.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92337"/>
                </a:solidFill>
                <a:latin typeface="Aptos"/>
              </a:rPr>
              <a:t>Execution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0292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6E7D"/>
                </a:solidFill>
                <a:latin typeface="Aptos"/>
              </a:rPr>
              <a:t>Build the control plane and runtime together so the product never becomes a UI-only simulation.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0292" cy="1691640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45919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01168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React control plane
Tenant + domain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0876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508760"/>
            <a:ext cx="50292" cy="1691640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645919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Factory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1168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Agents • Skills • Tools •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50292" cy="1691640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1645919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Harness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01168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Harness Builder • Templates • Versions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50876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508760"/>
            <a:ext cx="50292" cy="1691640"/>
          </a:xfrm>
          <a:prstGeom prst="rect">
            <a:avLst/>
          </a:prstGeom>
          <a:solidFill>
            <a:srgbClr val="7D3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1645919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Graph +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01168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Executable Graph Engine
Adaptive Loop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5760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57600"/>
            <a:ext cx="50292" cy="1691640"/>
          </a:xfrm>
          <a:prstGeom prst="rect">
            <a:avLst/>
          </a:prstGeom>
          <a:solidFill>
            <a:srgbClr val="2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794760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16052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Agent Runtime • Tool Runtime
Policy • 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65760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3657600"/>
            <a:ext cx="50292" cy="1691640"/>
          </a:xfrm>
          <a:prstGeom prst="rect">
            <a:avLst/>
          </a:prstGeom>
          <a:solidFill>
            <a:srgbClr val="2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3794760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416052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Greenfield + Brownfield
Git + Tests + Sonar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65760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657600"/>
            <a:ext cx="50292" cy="1691640"/>
          </a:xfrm>
          <a:prstGeom prst="rect">
            <a:avLst/>
          </a:prstGeom>
          <a:solidFill>
            <a:srgbClr val="2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3794760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1" y="416052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Build • Release • Deploy
Verification + Recovery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65760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657600"/>
            <a:ext cx="50292" cy="1691640"/>
          </a:xfrm>
          <a:prstGeom prst="rect">
            <a:avLst/>
          </a:prstGeom>
          <a:solidFill>
            <a:srgbClr val="2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8592" y="3794760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92337"/>
                </a:solidFill>
                <a:latin typeface="Aptos"/>
              </a:rPr>
              <a:t>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4160520"/>
            <a:ext cx="219456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83040"/>
                </a:solidFill>
                <a:latin typeface="Aptos"/>
              </a:rPr>
              <a:t>Evidence • Engineering State
Replay • Economics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2356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92337"/>
                </a:solidFill>
                <a:latin typeface="Aptos"/>
              </a:rPr>
              <a:t>MVP vertical slice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5532120"/>
            <a:ext cx="9326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7D3FDC"/>
                </a:solidFill>
                <a:latin typeface="Aptos"/>
              </a:rPr>
              <a:t>Requirement/Jira → Story Harness → Code → Test → Sonar → Git → DEV → Verification →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7D3FDC"/>
                </a:solidFill>
                <a:latin typeface="Aptos"/>
              </a:rP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100" b="1">
                <a:solidFill>
                  <a:srgbClr val="192337"/>
                </a:solidFill>
                <a:latin typeface="Aptos"/>
              </a:rPr>
              <a:t>We don't just build AI agents.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100" b="1">
                <a:solidFill>
                  <a:srgbClr val="7D3FDC"/>
                </a:solidFill>
                <a:latin typeface="Aptos"/>
              </a:rPr>
              <a:t>We engineer how AI builds software.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03320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49039"/>
            <a:ext cx="13258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REQUIREMENT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40280" y="4023360"/>
            <a:ext cx="54864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40" y="3566160"/>
            <a:ext cx="1325880" cy="914400"/>
          </a:xfrm>
          <a:prstGeom prst="roundRect">
            <a:avLst/>
          </a:prstGeom>
          <a:solidFill>
            <a:srgbClr val="F6F1FF"/>
          </a:solidFill>
          <a:ln w="12700">
            <a:solidFill>
              <a:srgbClr val="7D3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3611879"/>
            <a:ext cx="123443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92337"/>
                </a:solidFill>
                <a:latin typeface="Aptos"/>
              </a:rPr>
              <a:t>HARNESS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4023360"/>
            <a:ext cx="4572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63440" y="3703320"/>
            <a:ext cx="1234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5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3749039"/>
            <a:ext cx="11430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GRAPH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97880" y="4023360"/>
            <a:ext cx="4572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0" y="3703320"/>
            <a:ext cx="1234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749039"/>
            <a:ext cx="11430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LOOP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35240" y="4023360"/>
            <a:ext cx="4572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38160" y="3703320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749039"/>
            <a:ext cx="13258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REAL CODE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55480" y="4023360"/>
            <a:ext cx="457200" cy="0"/>
          </a:xfrm>
          <a:prstGeom prst="line">
            <a:avLst/>
          </a:prstGeom>
          <a:ln w="17780">
            <a:solidFill>
              <a:srgbClr val="7D3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0" y="3703320"/>
            <a:ext cx="1325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3749039"/>
            <a:ext cx="1234439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  <a:latin typeface="Aptos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646E7D"/>
                </a:solidFill>
                <a:latin typeface="Aptos"/>
              </a:rPr>
              <a:t>Governed • Adaptive • Reusable • Measurable • Enterprise-ready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6E7D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