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Relationship Id="rId20" Type="http://schemas.openxmlformats.org/officeDocument/2006/relationships/image" Target="../media/image53.png"/><Relationship Id="rId21" Type="http://schemas.openxmlformats.org/officeDocument/2006/relationships/image" Target="../media/image54.png"/><Relationship Id="rId22" Type="http://schemas.openxmlformats.org/officeDocument/2006/relationships/image" Target="../media/image55.png"/><Relationship Id="rId23" Type="http://schemas.openxmlformats.org/officeDocument/2006/relationships/image" Target="../media/image56.png"/><Relationship Id="rId24" Type="http://schemas.openxmlformats.org/officeDocument/2006/relationships/image" Target="../media/image57.png"/><Relationship Id="rId25" Type="http://schemas.openxmlformats.org/officeDocument/2006/relationships/image" Target="../media/image58.png"/><Relationship Id="rId26" Type="http://schemas.openxmlformats.org/officeDocument/2006/relationships/image" Target="../media/image59.png"/><Relationship Id="rId27" Type="http://schemas.openxmlformats.org/officeDocument/2006/relationships/image" Target="../media/image60.png"/><Relationship Id="rId28" Type="http://schemas.openxmlformats.org/officeDocument/2006/relationships/image" Target="../media/image61.png"/><Relationship Id="rId29" Type="http://schemas.openxmlformats.org/officeDocument/2006/relationships/image" Target="../media/image62.png"/><Relationship Id="rId30" Type="http://schemas.openxmlformats.org/officeDocument/2006/relationships/image" Target="../media/image63.png"/><Relationship Id="rId31" Type="http://schemas.openxmlformats.org/officeDocument/2006/relationships/image" Target="../media/image6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Relationship Id="rId17" Type="http://schemas.openxmlformats.org/officeDocument/2006/relationships/image" Target="../media/image8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Relationship Id="rId8" Type="http://schemas.openxmlformats.org/officeDocument/2006/relationships/image" Target="../media/image17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181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184.png"/><Relationship Id="rId12" Type="http://schemas.openxmlformats.org/officeDocument/2006/relationships/image" Target="../media/image185.png"/><Relationship Id="rId13" Type="http://schemas.openxmlformats.org/officeDocument/2006/relationships/image" Target="../media/image186.png"/><Relationship Id="rId14" Type="http://schemas.openxmlformats.org/officeDocument/2006/relationships/image" Target="../media/image187.png"/><Relationship Id="rId15" Type="http://schemas.openxmlformats.org/officeDocument/2006/relationships/image" Target="../media/image188.png"/><Relationship Id="rId16" Type="http://schemas.openxmlformats.org/officeDocument/2006/relationships/image" Target="../media/image189.png"/><Relationship Id="rId17" Type="http://schemas.openxmlformats.org/officeDocument/2006/relationships/image" Target="../media/image190.png"/><Relationship Id="rId18" Type="http://schemas.openxmlformats.org/officeDocument/2006/relationships/image" Target="../media/image19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Relationship Id="rId3" Type="http://schemas.openxmlformats.org/officeDocument/2006/relationships/image" Target="../media/image193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706117"/>
            <a:ext cx="15525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15717"/>
            <a:ext cx="155257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529" y="3801367"/>
            <a:ext cx="2705695" cy="838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390525"/>
            <a:ext cx="11220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Plus Jakarta Sans"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609600"/>
            <a:ext cx="1170622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We don't just build AI agents.</a:t>
            </a:r>
            <a:r>
              <a:t>
</a:t>
            </a: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 We engineer how AI builds software.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0" y="2810767"/>
            <a:ext cx="182880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5250" y="2810767"/>
            <a:ext cx="1638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AI ENGINEERING FACTORY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39467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449067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5250" y="2829817"/>
            <a:ext cx="133350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5804" y="414426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3467992"/>
            <a:ext cx="2857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1150" y="3467992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0514" y="3467992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5775" y="4572892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76862" y="4572892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4802" y="457289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624877"/>
            <a:ext cx="3810000" cy="41909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024927"/>
            <a:ext cx="19050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3015527"/>
            <a:ext cx="19050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4006127"/>
            <a:ext cx="19050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25" y="4996727"/>
            <a:ext cx="19050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75" y="2519362"/>
            <a:ext cx="2667000" cy="409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2875" y="2928937"/>
            <a:ext cx="2667000" cy="409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875" y="3338512"/>
            <a:ext cx="2667000" cy="409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875" y="3748087"/>
            <a:ext cx="2667000" cy="4095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2875" y="4157662"/>
            <a:ext cx="2667000" cy="4095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2875" y="4567237"/>
            <a:ext cx="26670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390525"/>
            <a:ext cx="113299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Plus Jakarta Sans"/>
              </a:rPr>
              <a:t>From AI Assistance to AI Engineering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7556" y="428625"/>
            <a:ext cx="261937" cy="30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38275" y="1548677"/>
            <a:ext cx="220980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3525" y="1548677"/>
            <a:ext cx="2019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TODAY: FRAGMENTED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125" y="3452812"/>
            <a:ext cx="10477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TRANSFORMATION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2125" y="3671887"/>
            <a:ext cx="1047750" cy="381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439025" y="2043112"/>
            <a:ext cx="1914525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275" y="2043112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FUTURE: ENGINEERED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1925" y="2519362"/>
            <a:ext cx="38100" cy="246697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3662" y="3148877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9375" y="4139477"/>
            <a:ext cx="1905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14600" y="513007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687749"/>
            <a:ext cx="5715000" cy="571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705100"/>
            <a:ext cx="276225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705100"/>
            <a:ext cx="276225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New Engineering Operating Model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86475" y="1371600"/>
            <a:ext cx="19050" cy="457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525" y="1400175"/>
            <a:ext cx="6048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525" y="2162175"/>
            <a:ext cx="495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4525" y="3686175"/>
            <a:ext cx="5715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4525" y="4448175"/>
            <a:ext cx="2333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525" y="5210175"/>
            <a:ext cx="3952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4525" y="5906824"/>
            <a:ext cx="6381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4525" y="2924175"/>
            <a:ext cx="5191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262" y="2924175"/>
            <a:ext cx="5572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RECOVER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044136"/>
            <a:ext cx="11220450" cy="904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2900362"/>
            <a:ext cx="150495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775" y="4005262"/>
            <a:ext cx="150495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1301311"/>
            <a:ext cx="2605087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287" y="1301311"/>
            <a:ext cx="2605087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1301311"/>
            <a:ext cx="2605087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3962" y="1301311"/>
            <a:ext cx="2605087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676525"/>
            <a:ext cx="2569368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5193" y="2676525"/>
            <a:ext cx="2569368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7437" y="2676525"/>
            <a:ext cx="2569368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9681" y="2676525"/>
            <a:ext cx="2569368" cy="390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209925"/>
            <a:ext cx="2569368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5193" y="3209925"/>
            <a:ext cx="2569368" cy="3905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7437" y="3209925"/>
            <a:ext cx="2569368" cy="3905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9681" y="3209925"/>
            <a:ext cx="2569368" cy="3905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4495800"/>
            <a:ext cx="1704975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3175" y="4495800"/>
            <a:ext cx="1704975" cy="400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4495800"/>
            <a:ext cx="1704975" cy="4000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43625" y="4495800"/>
            <a:ext cx="1704975" cy="400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43850" y="4495800"/>
            <a:ext cx="1704975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44075" y="4495800"/>
            <a:ext cx="1704975" cy="4000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Inside the AI Engineering Factory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3425" y="967936"/>
            <a:ext cx="118110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675" y="967936"/>
            <a:ext cx="990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CONTROL PLANE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425" y="2343150"/>
            <a:ext cx="125730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675" y="2343150"/>
            <a:ext cx="10668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EXECUTION PLANE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3425" y="4162425"/>
            <a:ext cx="184785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675" y="4162425"/>
            <a:ext cx="1657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REAL ENGINEERING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0775" y="2586037"/>
            <a:ext cx="1504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DATA LAYER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34662" y="3062287"/>
            <a:ext cx="2571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48950" y="4167187"/>
            <a:ext cx="2286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85887" y="4619625"/>
            <a:ext cx="1333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71825" y="4619625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14900" y="4619625"/>
            <a:ext cx="1714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53225" y="4619625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4387" y="4619625"/>
            <a:ext cx="1524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63187" y="4619625"/>
            <a:ext cx="152400" cy="1524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6086475" y="2038350"/>
            <a:ext cx="19050" cy="538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85947"/>
            <a:ext cx="9525000" cy="333374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543272"/>
            <a:ext cx="11430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3124172"/>
            <a:ext cx="180022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3638522"/>
            <a:ext cx="180022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0300" y="4152872"/>
            <a:ext cx="180022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3848072"/>
            <a:ext cx="1162050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075" y="4705322"/>
            <a:ext cx="1285875" cy="4190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Harness is the Governance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9531" y="1609725"/>
            <a:ext cx="44529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"NOTHING EXECUTES OUTSIDE THE HARNESS RUNTIME."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81150" y="2009747"/>
            <a:ext cx="3114675" cy="200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2009747"/>
            <a:ext cx="29241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C3AED"/>
                </a:solidFill>
                <a:latin typeface="Plus Jakarta Sans"/>
              </a:rPr>
              <a:t>HARNESSED EXECUTION BOUNDARY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400" y="2038322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3550" y="5086322"/>
            <a:ext cx="8810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TIMEOUT: 300S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7487" y="5086322"/>
            <a:ext cx="1052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COST LIMIT: $5.00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875" y="5086322"/>
            <a:ext cx="14573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HUMAN APPROVAL: AUTO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676622"/>
            <a:ext cx="1905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8912" y="3771872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00325" y="3257522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0325" y="3771872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00325" y="4286222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39425" y="4067147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25100" y="4838672"/>
            <a:ext cx="114300" cy="15239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0820400" y="4229072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51836"/>
            <a:ext cx="79057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2751836"/>
            <a:ext cx="13239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751836"/>
            <a:ext cx="9525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2751836"/>
            <a:ext cx="9525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2751836"/>
            <a:ext cx="69532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2180336"/>
            <a:ext cx="9334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3513836"/>
            <a:ext cx="85725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Graph Defines the Engineering Path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500" y="3323336"/>
            <a:ext cx="8096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QUALITY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0" y="2370836"/>
            <a:ext cx="2857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0B981"/>
                </a:solidFill>
                <a:latin typeface="Plus Jakarta Sans"/>
              </a:rP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0" y="3228086"/>
            <a:ext cx="228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EF4444"/>
                </a:solidFill>
                <a:latin typeface="Plus Jakarta Sans"/>
              </a:rPr>
              <a:t>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2180336"/>
            <a:ext cx="2057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"EXECUTION TOPOLOGY"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3100" y="2866136"/>
            <a:ext cx="1143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1799336"/>
            <a:ext cx="9525000" cy="3810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0842" y="2672928"/>
            <a:ext cx="538815" cy="538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371850"/>
            <a:ext cx="1343025" cy="647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12" y="2038350"/>
            <a:ext cx="10953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990850"/>
            <a:ext cx="116205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425" y="4095750"/>
            <a:ext cx="126682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150" y="5048250"/>
            <a:ext cx="14097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4095750"/>
            <a:ext cx="75247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990850"/>
            <a:ext cx="1000125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112" y="390525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When Engineering Fails — The System Recovers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00037" cy="30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91000" y="2228850"/>
            <a:ext cx="3810000" cy="3048000"/>
          </a:xfrm>
          <a:prstGeom prst="roundRect">
            <a:avLst>
              <a:gd name="adj" fmla="val 15625"/>
            </a:avLst>
          </a:prstGeom>
          <a:noFill/>
          <a:ln w="285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3037" y="6134100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38775" y="3476625"/>
            <a:ext cx="11334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7C3AED"/>
                </a:solidFill>
                <a:latin typeface="JetBrains Mono"/>
              </a:rPr>
              <a:t>LOOP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8775" y="3609975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JetBrains Mono"/>
              </a:rPr>
              <a:t>Max Iterations: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8775" y="3762375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JetBrains Mono"/>
              </a:rPr>
              <a:t>Cost Cap: $2.50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6475" y="5276850"/>
            <a:ext cx="19050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737" y="921482"/>
            <a:ext cx="3438525" cy="447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3912" y="390525"/>
            <a:ext cx="113680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From One-Off Prompts to Reusable Workers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28625"/>
            <a:ext cx="223837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2690812"/>
            <a:ext cx="1714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14775" y="4286250"/>
            <a:ext cx="4362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JetBrains Mono"/>
              </a:rPr>
              <a:t>AGENT CONTRACT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14775" y="4533900"/>
            <a:ext cx="4362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4775" y="463867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Role: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Refactor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675" y="463867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Model: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GPT-4o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6575" y="463867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Skills: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Java,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4775" y="488632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Tools: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Git, 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675" y="488632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Perms: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src/payment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488632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Limits:</a:t>
            </a:r>
            <a:r>
              <a:rPr b="0" sz="900" i="0" u="none">
                <a:solidFill>
                  <a:srgbClr val="0F172A"/>
                </a:solidFill>
                <a:latin typeface="JetBrains Mono"/>
              </a:rPr>
              <a:t> Cost,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1000" y="6096000"/>
            <a:ext cx="3810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9987" y="6672262"/>
            <a:ext cx="19050" cy="190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0" y="6672262"/>
            <a:ext cx="19050" cy="190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62962" y="6672262"/>
            <a:ext cx="19050" cy="190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16666"/>
            <a:ext cx="2920900" cy="1104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400" y="3216666"/>
            <a:ext cx="2921049" cy="110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450" y="3216666"/>
            <a:ext cx="2920900" cy="110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0112" y="390525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Engineering Capability Layer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300037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937" y="1914525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0504" y="3426216"/>
            <a:ext cx="2626890" cy="2190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Plus Jakarta Sans"/>
              </a:rPr>
              <a:t>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3788166"/>
            <a:ext cx="250180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React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Java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Python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JUnit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402" y="3426216"/>
            <a:ext cx="2627047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Plus Jakarta Sans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4950" y="3788166"/>
            <a:ext cx="2501949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Git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Jira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Terminal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Build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Sonar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4455" y="3426216"/>
            <a:ext cx="2626890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Plus Jakarta Sans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000" y="3788166"/>
            <a:ext cx="25018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Provider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Routing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Cost Cap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Latency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Fallback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9612" y="3464316"/>
            <a:ext cx="2190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801" y="3464316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6413" y="3464316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348037"/>
            <a:ext cx="814387" cy="809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112" y="390525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Greenfield: Requirement to Running Application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28625"/>
            <a:ext cx="300037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348037"/>
            <a:ext cx="11220450" cy="80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14550" y="4410075"/>
            <a:ext cx="2457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JetBrains Mono"/>
              </a:rPr>
              <a:t>NEW GENERATION ARTIFACT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14550" y="4657725"/>
            <a:ext cx="245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775" y="4033837"/>
            <a:ext cx="8143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7465" y="4129087"/>
            <a:ext cx="5334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8167" y="4129087"/>
            <a:ext cx="552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7920" y="4129087"/>
            <a:ext cx="5905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5773" y="4129087"/>
            <a:ext cx="5524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SONAR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5526" y="4129087"/>
            <a:ext cx="5905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4550" y="4762500"/>
            <a:ext cx="245745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Architecture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550" y="4991100"/>
            <a:ext cx="245745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Domain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4550" y="5219700"/>
            <a:ext cx="245745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API Specs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4550" y="5448300"/>
            <a:ext cx="245745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Story Map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62362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490" y="3757612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192" y="3757612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7945" y="3757612"/>
            <a:ext cx="1905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5798" y="3757612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551" y="3757612"/>
            <a:ext cx="1905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4776787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5005387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5233987"/>
            <a:ext cx="1047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5462587"/>
            <a:ext cx="10477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3538537"/>
            <a:ext cx="814387" cy="4000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17465" y="3633787"/>
            <a:ext cx="533400" cy="4000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8167" y="3633787"/>
            <a:ext cx="552450" cy="4000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7920" y="3633787"/>
            <a:ext cx="590550" cy="4000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5773" y="3633787"/>
            <a:ext cx="552450" cy="4000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15526" y="3633787"/>
            <a:ext cx="5905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787" y="2933700"/>
            <a:ext cx="159067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787" y="3543300"/>
            <a:ext cx="1590675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787" y="4152900"/>
            <a:ext cx="1590675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0112" y="390525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Every Story is an Engineering Contract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2562" y="3252787"/>
            <a:ext cx="1981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JIRA-101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2562" y="3500437"/>
            <a:ext cx="1981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2562" y="3605212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User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2562" y="3852862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JetBrains Mono"/>
              </a:rPr>
              <a:t>Acceptance Criteria:</a:t>
            </a:r>
            <a:r>
              <a:t>
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- Valid reg succeeds</a:t>
            </a:r>
            <a:r>
              <a:t>
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- Duplicate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6837" y="3133725"/>
            <a:ext cx="2628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JetBrains Mono"/>
              </a:rPr>
              <a:t>TEST CONTRACT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76837" y="3381375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6837" y="4238625"/>
            <a:ext cx="2628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"TEST BEFORE IMPLEMENTATION."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6837" y="3486150"/>
            <a:ext cx="26289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TC-001: Valid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6837" y="3714750"/>
            <a:ext cx="26289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TC-002: Duplicate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837" y="3943350"/>
            <a:ext cx="2628900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TC-003: Invalid format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8812" y="3067050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8812" y="367665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8812" y="4286250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6837" y="3505200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6837" y="3733800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6837" y="3962400"/>
            <a:ext cx="10477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900343"/>
            <a:ext cx="3954809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043343"/>
            <a:ext cx="3954809" cy="136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100243"/>
            <a:ext cx="3954809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084" y="3238500"/>
            <a:ext cx="18478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684" y="3238500"/>
            <a:ext cx="13906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584" y="3848100"/>
            <a:ext cx="1562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5434" y="3848100"/>
            <a:ext cx="1476375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6312" y="390525"/>
            <a:ext cx="112156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Brownfield: Discover Before Changing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76237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4442" y="2233593"/>
            <a:ext cx="133350" cy="152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3425" y="2824143"/>
            <a:ext cx="144780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75" y="2824143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DISCOVERY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109893"/>
            <a:ext cx="353570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Plus Jakarta Sans"/>
              </a:rPr>
              <a:t>Architecture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APIs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Database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Dependencies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43368"/>
            <a:ext cx="355475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JetBrains Mono"/>
              </a:rPr>
              <a:t>SEMANTIC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91018"/>
            <a:ext cx="35547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6609" y="3981450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5459" y="3981450"/>
            <a:ext cx="190500" cy="1524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453580" y="2614593"/>
            <a:ext cx="19050" cy="190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53580" y="3757593"/>
            <a:ext cx="19050" cy="190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2434" y="3438525"/>
            <a:ext cx="285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0334" y="4048125"/>
            <a:ext cx="285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79184" y="4048125"/>
            <a:ext cx="2857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33600"/>
            <a:ext cx="120967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133600"/>
            <a:ext cx="13335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3562350"/>
            <a:ext cx="73342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562350"/>
            <a:ext cx="9334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953000"/>
            <a:ext cx="12573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953000"/>
            <a:ext cx="9906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3912" y="3433762"/>
            <a:ext cx="2924175" cy="63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112" y="390525"/>
            <a:ext cx="112918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AI Remembers the Software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000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41106" y="5819775"/>
            <a:ext cx="21097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"EVERY ACTION UPDATES THE STATE."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4437" y="3676650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1371600"/>
            <a:ext cx="7620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217003"/>
            <a:ext cx="2519362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3217003"/>
            <a:ext cx="2519362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17003"/>
            <a:ext cx="2519362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862" y="3217003"/>
            <a:ext cx="2519362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598003"/>
            <a:ext cx="2195512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062" y="3598003"/>
            <a:ext cx="2195512" cy="371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598003"/>
            <a:ext cx="2195512" cy="371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8787" y="3598003"/>
            <a:ext cx="2195512" cy="371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Pipelines Compose Governed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493" y="5391150"/>
            <a:ext cx="42910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"PIPELINE = LIFECYCLE COMPOSITION. HARNESS = GOVERNED EXECUTION."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700" y="3378928"/>
            <a:ext cx="2195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DEV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8062" y="3378928"/>
            <a:ext cx="2195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TEST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378928"/>
            <a:ext cx="2195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SEC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8787" y="3378928"/>
            <a:ext cx="2195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DEPLOY HARNESS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0387" y="3502753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00750" y="3502753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1112" y="3502753"/>
            <a:ext cx="190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933700"/>
            <a:ext cx="4112418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3543300"/>
            <a:ext cx="4112418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152900"/>
            <a:ext cx="4112418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2012" y="390525"/>
            <a:ext cx="113299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This Is Not A Simulation Layer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28625"/>
            <a:ext cx="261937" cy="30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3425" y="866775"/>
            <a:ext cx="1285875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675" y="866775"/>
            <a:ext cx="1095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AI DECISION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3612" y="2997993"/>
            <a:ext cx="123825" cy="1033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HARNESS BARRIER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793" y="3767137"/>
            <a:ext cx="1033462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98531" y="2976562"/>
            <a:ext cx="4112418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0B981"/>
                </a:solidFill>
                <a:latin typeface="JetBrains Mono"/>
              </a:rPr>
              <a:t>REAL ENGINEERING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8531" y="3224212"/>
            <a:ext cx="41124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8531" y="332898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JetBrains Mono"/>
              </a:rPr>
              <a:t>$ git checkout -b feature/retry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8531" y="348138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&gt; Switched to new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8531" y="372903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JetBrains Mono"/>
              </a:rPr>
              <a:t>$ echo "..." &gt; PaymentService.java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8531" y="397668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JetBrains Mono"/>
              </a:rPr>
              <a:t>$ mvn clean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8531" y="412908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&gt; Tests run: 48, Failures: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8531" y="4376737"/>
            <a:ext cx="411241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JetBrains Mono"/>
              </a:rPr>
              <a:t>$ git commit -m "Update retry"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067050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67665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428625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429" y="1168156"/>
            <a:ext cx="1219200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Every AI Action Produces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1762" y="3790950"/>
            <a:ext cx="6848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"AI OUTPUT WITHOUT EVIDENCE IS AN OPINION. ENGINEERING EVIDENCE MAKES IT ACCOUNTABLE."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1315793"/>
            <a:ext cx="2428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REQ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6373" y="1315793"/>
            <a:ext cx="3857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9846" y="1315793"/>
            <a:ext cx="323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407" y="1315793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2018" y="1315793"/>
            <a:ext cx="2667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425" y="1952625"/>
            <a:ext cx="1924050" cy="142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675" y="1952625"/>
            <a:ext cx="1733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IMMUTABLE EVIDENCE LEDGER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454" y="1301506"/>
            <a:ext cx="1143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575" y="2333625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Agent ID: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coding-gpt4o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1025" y="2333625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Harness: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dev-v4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475" y="2333625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Commit Hash: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9f86d081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2686050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Files: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PaymentService.java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1025" y="2686050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Tests: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48 / 48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475" y="2686050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SonarQube: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3038475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Risk Score: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1025" y="3038475"/>
            <a:ext cx="3409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latin typeface="JetBrains Mono"/>
              </a:rPr>
              <a:t>Approval:</a:t>
            </a:r>
            <a:r>
              <a:rPr b="0" sz="975" i="0" u="none">
                <a:solidFill>
                  <a:srgbClr val="0F172A"/>
                </a:solidFill>
                <a:latin typeface="JetBrains Mono"/>
              </a:rPr>
              <a:t> AUTO-APPROVED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553651"/>
            <a:ext cx="2095500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306126"/>
            <a:ext cx="20955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058601"/>
            <a:ext cx="20955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3811076"/>
            <a:ext cx="20955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4563551"/>
            <a:ext cx="2095500" cy="59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5487476"/>
            <a:ext cx="20955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7050" y="2628900"/>
            <a:ext cx="207645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7050" y="3238500"/>
            <a:ext cx="207645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7050" y="3848100"/>
            <a:ext cx="207645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7050" y="4457700"/>
            <a:ext cx="207645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Governance Is Embedded Into Execution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38525" y="1687001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8525" y="4782626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77075" y="2762250"/>
            <a:ext cx="1905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77075" y="337185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77075" y="3981450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7075" y="4591050"/>
            <a:ext cx="152400" cy="152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238500" y="2068001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38500" y="2820476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38500" y="3572951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38500" y="4325426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38500" y="5249351"/>
            <a:ext cx="19050" cy="142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916491"/>
            <a:ext cx="2519362" cy="1590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2916491"/>
            <a:ext cx="2519362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16491"/>
            <a:ext cx="2519362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6862" y="2916491"/>
            <a:ext cx="2519362" cy="1590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8212" y="390525"/>
            <a:ext cx="112537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Engineering Intelligence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28625"/>
            <a:ext cx="338137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0575" y="3240341"/>
            <a:ext cx="19097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CYCLE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459416"/>
            <a:ext cx="19097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7C3AED"/>
                </a:solidFill>
                <a:latin typeface="monospace ExtraBold"/>
              </a:rPr>
              <a:t>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049966"/>
            <a:ext cx="19097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Idea 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0937" y="3240341"/>
            <a:ext cx="19097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DEFECT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937" y="3459416"/>
            <a:ext cx="19097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10B981"/>
                </a:solidFill>
                <a:latin typeface="monospace ExtraBold"/>
              </a:rPr>
              <a:t>-85%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0937" y="4049966"/>
            <a:ext cx="19097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Pre-deployment bugs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240341"/>
            <a:ext cx="19097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AI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459416"/>
            <a:ext cx="19097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38BDF8"/>
                </a:solidFill>
                <a:latin typeface="monospace ExtraBold"/>
              </a:rPr>
              <a:t>+$0.15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049966"/>
            <a:ext cx="19097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Avg Token Cost per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662" y="3240341"/>
            <a:ext cx="190976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64748B"/>
                </a:solidFill>
                <a:latin typeface="Plus Jakarta Sans"/>
              </a:rPr>
              <a:t>HUMAN TOUCH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662" y="3459416"/>
            <a:ext cx="19097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0F172A"/>
                </a:solidFill>
                <a:latin typeface="monospace ExtraBold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662" y="4049966"/>
            <a:ext cx="19097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Intervention Rate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092851"/>
            <a:ext cx="704850" cy="4190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2092851"/>
            <a:ext cx="1047750" cy="4190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25" y="2092851"/>
            <a:ext cx="923925" cy="419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3473976"/>
            <a:ext cx="9334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550" y="4817001"/>
            <a:ext cx="10287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4817001"/>
            <a:ext cx="111442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0" y="4817001"/>
            <a:ext cx="828675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0" y="3473976"/>
            <a:ext cx="186690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6312" y="390525"/>
            <a:ext cx="1121568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Closed Loop Engineering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28625"/>
            <a:ext cx="376237" cy="30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62250" y="2235726"/>
            <a:ext cx="6667500" cy="28575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0" y="3045351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3902601"/>
            <a:ext cx="19050" cy="381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2200000"/>
            <a:ext cx="4933950" cy="971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8000" y="1066524"/>
            <a:ext cx="5667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0" y="780774"/>
            <a:ext cx="6715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HARNESSES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77275" y="1066524"/>
            <a:ext cx="4667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10687" y="2590525"/>
            <a:ext cx="4048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4181200"/>
            <a:ext cx="457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0" y="4466950"/>
            <a:ext cx="5810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4181200"/>
            <a:ext cx="3286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0" y="2590525"/>
            <a:ext cx="3952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8070" y="5057775"/>
            <a:ext cx="687585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We don't just build AI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8070" y="5619750"/>
            <a:ext cx="687585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3000" i="0" u="none">
                <a:solidFill>
                  <a:srgbClr val="7C3AED"/>
                </a:solidFill>
                <a:latin typeface="Plus Jakarta Sans"/>
              </a:rPr>
              <a:t>We engineer how AI builds software.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780774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