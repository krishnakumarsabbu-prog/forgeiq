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Relationship Id="rId20" Type="http://schemas.openxmlformats.org/officeDocument/2006/relationships/image" Target="../media/image61.png"/><Relationship Id="rId21" Type="http://schemas.openxmlformats.org/officeDocument/2006/relationships/image" Target="../media/image62.png"/><Relationship Id="rId22" Type="http://schemas.openxmlformats.org/officeDocument/2006/relationships/image" Target="../media/image63.png"/><Relationship Id="rId23" Type="http://schemas.openxmlformats.org/officeDocument/2006/relationships/image" Target="../media/image64.png"/><Relationship Id="rId24" Type="http://schemas.openxmlformats.org/officeDocument/2006/relationships/image" Target="../media/image65.png"/><Relationship Id="rId25" Type="http://schemas.openxmlformats.org/officeDocument/2006/relationships/image" Target="../media/image66.png"/><Relationship Id="rId26" Type="http://schemas.openxmlformats.org/officeDocument/2006/relationships/image" Target="../media/image67.png"/><Relationship Id="rId27" Type="http://schemas.openxmlformats.org/officeDocument/2006/relationships/image" Target="../media/image68.png"/><Relationship Id="rId28" Type="http://schemas.openxmlformats.org/officeDocument/2006/relationships/image" Target="../media/image69.png"/><Relationship Id="rId29" Type="http://schemas.openxmlformats.org/officeDocument/2006/relationships/image" Target="../media/image70.png"/><Relationship Id="rId30" Type="http://schemas.openxmlformats.org/officeDocument/2006/relationships/image" Target="../media/image71.png"/><Relationship Id="rId31" Type="http://schemas.openxmlformats.org/officeDocument/2006/relationships/image" Target="../media/image72.png"/><Relationship Id="rId32" Type="http://schemas.openxmlformats.org/officeDocument/2006/relationships/image" Target="../media/image73.png"/><Relationship Id="rId33" Type="http://schemas.openxmlformats.org/officeDocument/2006/relationships/image" Target="../media/image74.png"/><Relationship Id="rId34" Type="http://schemas.openxmlformats.org/officeDocument/2006/relationships/image" Target="../media/image75.png"/><Relationship Id="rId35" Type="http://schemas.openxmlformats.org/officeDocument/2006/relationships/image" Target="../media/image7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Relationship Id="rId13" Type="http://schemas.openxmlformats.org/officeDocument/2006/relationships/image" Target="../media/image88.png"/><Relationship Id="rId14" Type="http://schemas.openxmlformats.org/officeDocument/2006/relationships/image" Target="../media/image89.png"/><Relationship Id="rId15" Type="http://schemas.openxmlformats.org/officeDocument/2006/relationships/image" Target="../media/image90.png"/><Relationship Id="rId16" Type="http://schemas.openxmlformats.org/officeDocument/2006/relationships/image" Target="../media/image91.png"/><Relationship Id="rId17" Type="http://schemas.openxmlformats.org/officeDocument/2006/relationships/image" Target="../media/image92.png"/><Relationship Id="rId18" Type="http://schemas.openxmlformats.org/officeDocument/2006/relationships/image" Target="../media/image93.png"/><Relationship Id="rId19" Type="http://schemas.openxmlformats.org/officeDocument/2006/relationships/image" Target="../media/image94.png"/><Relationship Id="rId20" Type="http://schemas.openxmlformats.org/officeDocument/2006/relationships/image" Target="../media/image9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Relationship Id="rId13" Type="http://schemas.openxmlformats.org/officeDocument/2006/relationships/image" Target="../media/image10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Relationship Id="rId12" Type="http://schemas.openxmlformats.org/officeDocument/2006/relationships/image" Target="../media/image128.png"/><Relationship Id="rId13" Type="http://schemas.openxmlformats.org/officeDocument/2006/relationships/image" Target="../media/image1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Relationship Id="rId10" Type="http://schemas.openxmlformats.org/officeDocument/2006/relationships/image" Target="../media/image138.png"/><Relationship Id="rId11" Type="http://schemas.openxmlformats.org/officeDocument/2006/relationships/image" Target="../media/image139.png"/><Relationship Id="rId12" Type="http://schemas.openxmlformats.org/officeDocument/2006/relationships/image" Target="../media/image140.png"/><Relationship Id="rId13" Type="http://schemas.openxmlformats.org/officeDocument/2006/relationships/image" Target="../media/image141.png"/><Relationship Id="rId14" Type="http://schemas.openxmlformats.org/officeDocument/2006/relationships/image" Target="../media/image142.png"/><Relationship Id="rId15" Type="http://schemas.openxmlformats.org/officeDocument/2006/relationships/image" Target="../media/image143.png"/><Relationship Id="rId16" Type="http://schemas.openxmlformats.org/officeDocument/2006/relationships/image" Target="../media/image144.png"/><Relationship Id="rId17" Type="http://schemas.openxmlformats.org/officeDocument/2006/relationships/image" Target="../media/image145.png"/><Relationship Id="rId18" Type="http://schemas.openxmlformats.org/officeDocument/2006/relationships/image" Target="../media/image146.png"/><Relationship Id="rId19" Type="http://schemas.openxmlformats.org/officeDocument/2006/relationships/image" Target="../media/image147.png"/><Relationship Id="rId20" Type="http://schemas.openxmlformats.org/officeDocument/2006/relationships/image" Target="../media/image148.png"/><Relationship Id="rId21" Type="http://schemas.openxmlformats.org/officeDocument/2006/relationships/image" Target="../media/image149.png"/><Relationship Id="rId22" Type="http://schemas.openxmlformats.org/officeDocument/2006/relationships/image" Target="../media/image150.png"/><Relationship Id="rId23" Type="http://schemas.openxmlformats.org/officeDocument/2006/relationships/image" Target="../media/image151.png"/><Relationship Id="rId24" Type="http://schemas.openxmlformats.org/officeDocument/2006/relationships/image" Target="../media/image152.png"/><Relationship Id="rId25" Type="http://schemas.openxmlformats.org/officeDocument/2006/relationships/image" Target="../media/image1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Relationship Id="rId7" Type="http://schemas.openxmlformats.org/officeDocument/2006/relationships/image" Target="../media/image159.png"/><Relationship Id="rId8" Type="http://schemas.openxmlformats.org/officeDocument/2006/relationships/image" Target="../media/image160.png"/><Relationship Id="rId9" Type="http://schemas.openxmlformats.org/officeDocument/2006/relationships/image" Target="../media/image161.png"/><Relationship Id="rId10" Type="http://schemas.openxmlformats.org/officeDocument/2006/relationships/image" Target="../media/image162.png"/><Relationship Id="rId11" Type="http://schemas.openxmlformats.org/officeDocument/2006/relationships/image" Target="../media/image163.png"/><Relationship Id="rId12" Type="http://schemas.openxmlformats.org/officeDocument/2006/relationships/image" Target="../media/image164.png"/><Relationship Id="rId13" Type="http://schemas.openxmlformats.org/officeDocument/2006/relationships/image" Target="../media/image165.png"/><Relationship Id="rId14" Type="http://schemas.openxmlformats.org/officeDocument/2006/relationships/image" Target="../media/image166.png"/><Relationship Id="rId15" Type="http://schemas.openxmlformats.org/officeDocument/2006/relationships/image" Target="../media/image167.png"/><Relationship Id="rId16" Type="http://schemas.openxmlformats.org/officeDocument/2006/relationships/image" Target="../media/image168.png"/><Relationship Id="rId17" Type="http://schemas.openxmlformats.org/officeDocument/2006/relationships/image" Target="../media/image169.png"/><Relationship Id="rId18" Type="http://schemas.openxmlformats.org/officeDocument/2006/relationships/image" Target="../media/image170.png"/><Relationship Id="rId19" Type="http://schemas.openxmlformats.org/officeDocument/2006/relationships/image" Target="../media/image171.png"/><Relationship Id="rId20" Type="http://schemas.openxmlformats.org/officeDocument/2006/relationships/image" Target="../media/image172.png"/><Relationship Id="rId21" Type="http://schemas.openxmlformats.org/officeDocument/2006/relationships/image" Target="../media/image17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3.png"/><Relationship Id="rId9" Type="http://schemas.openxmlformats.org/officeDocument/2006/relationships/image" Target="../media/image180.png"/><Relationship Id="rId10" Type="http://schemas.openxmlformats.org/officeDocument/2006/relationships/image" Target="../media/image181.png"/><Relationship Id="rId11" Type="http://schemas.openxmlformats.org/officeDocument/2006/relationships/image" Target="../media/image18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Relationship Id="rId3" Type="http://schemas.openxmlformats.org/officeDocument/2006/relationships/image" Target="../media/image184.png"/><Relationship Id="rId4" Type="http://schemas.openxmlformats.org/officeDocument/2006/relationships/image" Target="../media/image185.pn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png"/><Relationship Id="rId8" Type="http://schemas.openxmlformats.org/officeDocument/2006/relationships/image" Target="../media/image189.png"/><Relationship Id="rId9" Type="http://schemas.openxmlformats.org/officeDocument/2006/relationships/image" Target="../media/image190.png"/><Relationship Id="rId10" Type="http://schemas.openxmlformats.org/officeDocument/2006/relationships/image" Target="../media/image191.png"/><Relationship Id="rId11" Type="http://schemas.openxmlformats.org/officeDocument/2006/relationships/image" Target="../media/image192.png"/><Relationship Id="rId12" Type="http://schemas.openxmlformats.org/officeDocument/2006/relationships/image" Target="../media/image193.png"/><Relationship Id="rId13" Type="http://schemas.openxmlformats.org/officeDocument/2006/relationships/image" Target="../media/image194.png"/><Relationship Id="rId14" Type="http://schemas.openxmlformats.org/officeDocument/2006/relationships/image" Target="../media/image19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Relationship Id="rId6" Type="http://schemas.openxmlformats.org/officeDocument/2006/relationships/image" Target="../media/image200.png"/><Relationship Id="rId7" Type="http://schemas.openxmlformats.org/officeDocument/2006/relationships/image" Target="../media/image201.png"/><Relationship Id="rId8" Type="http://schemas.openxmlformats.org/officeDocument/2006/relationships/image" Target="../media/image202.png"/><Relationship Id="rId9" Type="http://schemas.openxmlformats.org/officeDocument/2006/relationships/image" Target="../media/image203.png"/><Relationship Id="rId10" Type="http://schemas.openxmlformats.org/officeDocument/2006/relationships/image" Target="../media/image20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Relationship Id="rId3" Type="http://schemas.openxmlformats.org/officeDocument/2006/relationships/image" Target="../media/image206.png"/><Relationship Id="rId4" Type="http://schemas.openxmlformats.org/officeDocument/2006/relationships/image" Target="../media/image207.png"/><Relationship Id="rId5" Type="http://schemas.openxmlformats.org/officeDocument/2006/relationships/image" Target="../media/image208.png"/><Relationship Id="rId6" Type="http://schemas.openxmlformats.org/officeDocument/2006/relationships/image" Target="../media/image209.png"/><Relationship Id="rId7" Type="http://schemas.openxmlformats.org/officeDocument/2006/relationships/image" Target="../media/image210.png"/><Relationship Id="rId8" Type="http://schemas.openxmlformats.org/officeDocument/2006/relationships/image" Target="../media/image211.png"/><Relationship Id="rId9" Type="http://schemas.openxmlformats.org/officeDocument/2006/relationships/image" Target="../media/image212.png"/><Relationship Id="rId10" Type="http://schemas.openxmlformats.org/officeDocument/2006/relationships/image" Target="../media/image213.png"/><Relationship Id="rId11" Type="http://schemas.openxmlformats.org/officeDocument/2006/relationships/image" Target="../media/image214.png"/><Relationship Id="rId12" Type="http://schemas.openxmlformats.org/officeDocument/2006/relationships/image" Target="../media/image215.png"/><Relationship Id="rId13" Type="http://schemas.openxmlformats.org/officeDocument/2006/relationships/image" Target="../media/image216.png"/><Relationship Id="rId14" Type="http://schemas.openxmlformats.org/officeDocument/2006/relationships/image" Target="../media/image217.png"/><Relationship Id="rId15" Type="http://schemas.openxmlformats.org/officeDocument/2006/relationships/image" Target="../media/image218.png"/><Relationship Id="rId16" Type="http://schemas.openxmlformats.org/officeDocument/2006/relationships/image" Target="../media/image219.png"/><Relationship Id="rId17" Type="http://schemas.openxmlformats.org/officeDocument/2006/relationships/image" Target="../media/image220.png"/><Relationship Id="rId18" Type="http://schemas.openxmlformats.org/officeDocument/2006/relationships/image" Target="../media/image221.png"/><Relationship Id="rId19" Type="http://schemas.openxmlformats.org/officeDocument/2006/relationships/image" Target="../media/image222.png"/><Relationship Id="rId20" Type="http://schemas.openxmlformats.org/officeDocument/2006/relationships/image" Target="../media/image223.png"/><Relationship Id="rId21" Type="http://schemas.openxmlformats.org/officeDocument/2006/relationships/image" Target="../media/image2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png"/><Relationship Id="rId3" Type="http://schemas.openxmlformats.org/officeDocument/2006/relationships/image" Target="../media/image226.png"/><Relationship Id="rId4" Type="http://schemas.openxmlformats.org/officeDocument/2006/relationships/image" Target="../media/image227.png"/><Relationship Id="rId5" Type="http://schemas.openxmlformats.org/officeDocument/2006/relationships/image" Target="../media/image228.png"/><Relationship Id="rId6" Type="http://schemas.openxmlformats.org/officeDocument/2006/relationships/image" Target="../media/image229.png"/><Relationship Id="rId7" Type="http://schemas.openxmlformats.org/officeDocument/2006/relationships/image" Target="../media/image230.png"/><Relationship Id="rId8" Type="http://schemas.openxmlformats.org/officeDocument/2006/relationships/image" Target="../media/image231.png"/><Relationship Id="rId9" Type="http://schemas.openxmlformats.org/officeDocument/2006/relationships/image" Target="../media/image232.png"/><Relationship Id="rId10" Type="http://schemas.openxmlformats.org/officeDocument/2006/relationships/image" Target="../media/image233.png"/><Relationship Id="rId11" Type="http://schemas.openxmlformats.org/officeDocument/2006/relationships/image" Target="../media/image8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Relationship Id="rId3" Type="http://schemas.openxmlformats.org/officeDocument/2006/relationships/image" Target="../media/image243.png"/><Relationship Id="rId4" Type="http://schemas.openxmlformats.org/officeDocument/2006/relationships/image" Target="../media/image244.png"/><Relationship Id="rId5" Type="http://schemas.openxmlformats.org/officeDocument/2006/relationships/image" Target="../media/image245.png"/><Relationship Id="rId6" Type="http://schemas.openxmlformats.org/officeDocument/2006/relationships/image" Target="../media/image246.png"/><Relationship Id="rId7" Type="http://schemas.openxmlformats.org/officeDocument/2006/relationships/image" Target="../media/image247.png"/><Relationship Id="rId8" Type="http://schemas.openxmlformats.org/officeDocument/2006/relationships/image" Target="../media/image248.png"/><Relationship Id="rId9" Type="http://schemas.openxmlformats.org/officeDocument/2006/relationships/image" Target="../media/image249.png"/><Relationship Id="rId10" Type="http://schemas.openxmlformats.org/officeDocument/2006/relationships/image" Target="../media/image250.png"/><Relationship Id="rId11" Type="http://schemas.openxmlformats.org/officeDocument/2006/relationships/image" Target="../media/image251.png"/><Relationship Id="rId12" Type="http://schemas.openxmlformats.org/officeDocument/2006/relationships/image" Target="../media/image133.png"/><Relationship Id="rId13" Type="http://schemas.openxmlformats.org/officeDocument/2006/relationships/image" Target="../media/image252.png"/><Relationship Id="rId14" Type="http://schemas.openxmlformats.org/officeDocument/2006/relationships/image" Target="../media/image253.png"/><Relationship Id="rId15" Type="http://schemas.openxmlformats.org/officeDocument/2006/relationships/image" Target="../media/image254.png"/><Relationship Id="rId16" Type="http://schemas.openxmlformats.org/officeDocument/2006/relationships/image" Target="../media/image255.png"/><Relationship Id="rId17" Type="http://schemas.openxmlformats.org/officeDocument/2006/relationships/image" Target="../media/image256.png"/><Relationship Id="rId18" Type="http://schemas.openxmlformats.org/officeDocument/2006/relationships/image" Target="../media/image257.png"/><Relationship Id="rId19" Type="http://schemas.openxmlformats.org/officeDocument/2006/relationships/image" Target="../media/image258.png"/><Relationship Id="rId20" Type="http://schemas.openxmlformats.org/officeDocument/2006/relationships/image" Target="../media/image2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Relationship Id="rId3" Type="http://schemas.openxmlformats.org/officeDocument/2006/relationships/image" Target="../media/image261.png"/><Relationship Id="rId4" Type="http://schemas.openxmlformats.org/officeDocument/2006/relationships/image" Target="../media/image262.png"/><Relationship Id="rId5" Type="http://schemas.openxmlformats.org/officeDocument/2006/relationships/image" Target="../media/image263.png"/><Relationship Id="rId6" Type="http://schemas.openxmlformats.org/officeDocument/2006/relationships/image" Target="../media/image264.png"/><Relationship Id="rId7" Type="http://schemas.openxmlformats.org/officeDocument/2006/relationships/image" Target="../media/image26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png"/><Relationship Id="rId3" Type="http://schemas.openxmlformats.org/officeDocument/2006/relationships/image" Target="../media/image267.png"/><Relationship Id="rId4" Type="http://schemas.openxmlformats.org/officeDocument/2006/relationships/image" Target="../media/image268.png"/><Relationship Id="rId5" Type="http://schemas.openxmlformats.org/officeDocument/2006/relationships/image" Target="../media/image269.png"/><Relationship Id="rId6" Type="http://schemas.openxmlformats.org/officeDocument/2006/relationships/image" Target="../media/image270.png"/><Relationship Id="rId7" Type="http://schemas.openxmlformats.org/officeDocument/2006/relationships/image" Target="../media/image271.png"/><Relationship Id="rId8" Type="http://schemas.openxmlformats.org/officeDocument/2006/relationships/image" Target="../media/image272.png"/><Relationship Id="rId9" Type="http://schemas.openxmlformats.org/officeDocument/2006/relationships/image" Target="../media/image27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287" y="2714625"/>
            <a:ext cx="3810000" cy="2381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162" y="3414712"/>
            <a:ext cx="1571625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162" y="3976687"/>
            <a:ext cx="157162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8787" y="3414712"/>
            <a:ext cx="15430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8787" y="3976687"/>
            <a:ext cx="154305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862" y="3390900"/>
            <a:ext cx="1019175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537" y="3390900"/>
            <a:ext cx="1019175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5862" y="4000500"/>
            <a:ext cx="1019175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5537" y="4000500"/>
            <a:ext cx="1019175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4837" y="2638425"/>
            <a:ext cx="919162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7250906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AI ENGINEERING 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1220985"/>
            <a:ext cx="7250906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7C3AED"/>
                </a:solidFill>
                <a:latin typeface="Plus Jakarta Sans SemiBold"/>
              </a:rPr>
              <a:t>“We don't just build AI agents.</a:t>
            </a:r>
            <a:r>
              <a:t>
</a:t>
            </a:r>
            <a:r>
              <a:rPr b="0" sz="2100" i="0" u="none">
                <a:solidFill>
                  <a:srgbClr val="7C3AED"/>
                </a:solidFill>
                <a:latin typeface="Plus Jakarta Sans SemiBold"/>
              </a:rPr>
              <a:t> We engineer how AI builds software.”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2787" y="3895725"/>
            <a:ext cx="571500" cy="190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6287" y="3895725"/>
            <a:ext cx="5715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0187" y="3548062"/>
            <a:ext cx="1143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0187" y="4110037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8812" y="3548062"/>
            <a:ext cx="1905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48812" y="4110037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626930"/>
            <a:ext cx="5133975" cy="5543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512" y="2112705"/>
            <a:ext cx="19050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512" y="3198555"/>
            <a:ext cx="19050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512" y="4284405"/>
            <a:ext cx="19050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5512" y="5370254"/>
            <a:ext cx="19050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5512" y="6456105"/>
            <a:ext cx="19050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3362" y="2251620"/>
            <a:ext cx="238125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3362" y="2670720"/>
            <a:ext cx="2381250" cy="4095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3362" y="3080295"/>
            <a:ext cx="2381250" cy="4095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3362" y="3489870"/>
            <a:ext cx="2381250" cy="4095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3362" y="3899445"/>
            <a:ext cx="2381250" cy="409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3362" y="4309020"/>
            <a:ext cx="2381250" cy="4095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" y="1541205"/>
            <a:ext cx="212407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77025" y="1680120"/>
            <a:ext cx="20955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5500" y="4347120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The Engineering Transformation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FRAGMENTED HANDOFFS VS. GOVERNED CONTINUOUS 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8487" y="2769930"/>
            <a:ext cx="19050" cy="190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19437" y="3855780"/>
            <a:ext cx="57150" cy="190500"/>
          </a:xfrm>
          <a:prstGeom prst="rect">
            <a:avLst/>
          </a:prstGeom>
          <a:solidFill>
            <a:srgbClr val="CBD5E1"/>
          </a:solidFill>
          <a:ln w="2857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19437" y="4941629"/>
            <a:ext cx="57150" cy="190500"/>
          </a:xfrm>
          <a:prstGeom prst="rect">
            <a:avLst/>
          </a:prstGeom>
          <a:solidFill>
            <a:srgbClr val="CBD5E1"/>
          </a:solidFill>
          <a:ln w="2857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19437" y="6027479"/>
            <a:ext cx="57150" cy="190500"/>
          </a:xfrm>
          <a:prstGeom prst="rect">
            <a:avLst/>
          </a:prstGeom>
          <a:solidFill>
            <a:srgbClr val="CBD5E1"/>
          </a:solidFill>
          <a:ln w="2857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38412" y="3331905"/>
            <a:ext cx="133350" cy="1524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962775" y="2346870"/>
            <a:ext cx="38100" cy="4381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549057"/>
            <a:ext cx="4762500" cy="571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5730629"/>
            <a:ext cx="4762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3097410"/>
            <a:ext cx="23241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0" y="3097410"/>
            <a:ext cx="2324100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The Core 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SEVEN LAYERS OF ENGINEERED EXECUTION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6475" y="1821060"/>
            <a:ext cx="19050" cy="41148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1275" y="1730032"/>
            <a:ext cx="738187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0800" y="2602110"/>
            <a:ext cx="6286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1275" y="3964185"/>
            <a:ext cx="7048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81275" y="4649985"/>
            <a:ext cx="366712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1275" y="5335785"/>
            <a:ext cx="528637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81275" y="5911604"/>
            <a:ext cx="77152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81275" y="3278385"/>
            <a:ext cx="652462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20162" y="3278385"/>
            <a:ext cx="690562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063862"/>
            <a:ext cx="11029950" cy="790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025" y="3211710"/>
            <a:ext cx="188595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025" y="4164210"/>
            <a:ext cx="188595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263887"/>
            <a:ext cx="2049809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109" y="2263887"/>
            <a:ext cx="2049809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1169" y="2263887"/>
            <a:ext cx="2049809" cy="390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6229" y="2263887"/>
            <a:ext cx="2049809" cy="390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1289" y="2263887"/>
            <a:ext cx="2049809" cy="390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3602235"/>
            <a:ext cx="2550318" cy="390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243" y="3602235"/>
            <a:ext cx="2550318" cy="3905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7437" y="3602235"/>
            <a:ext cx="2550318" cy="3905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0631" y="3602235"/>
            <a:ext cx="2550318" cy="3905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" y="4135635"/>
            <a:ext cx="2550318" cy="3905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243" y="4135635"/>
            <a:ext cx="2550318" cy="3905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7437" y="4135635"/>
            <a:ext cx="2550318" cy="3905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60631" y="4135635"/>
            <a:ext cx="2550318" cy="3905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050" y="5450085"/>
            <a:ext cx="1692324" cy="4000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8624" y="5450085"/>
            <a:ext cx="1692324" cy="4000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56199" y="5450085"/>
            <a:ext cx="1692324" cy="4000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43773" y="5450085"/>
            <a:ext cx="1692324" cy="4000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31348" y="5450085"/>
            <a:ext cx="1692324" cy="4000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18923" y="5450085"/>
            <a:ext cx="1692324" cy="4000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1050" y="1978137"/>
            <a:ext cx="1423987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1050" y="3316485"/>
            <a:ext cx="1323975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1050" y="5164335"/>
            <a:ext cx="1900237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29775" y="2051595"/>
            <a:ext cx="1223962" cy="1809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Inside the Factory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ENTERPRISE CONTROL PLANE TO REAL EXECUTION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25050" y="3516510"/>
            <a:ext cx="1714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25050" y="4469010"/>
            <a:ext cx="1524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17587" y="5573910"/>
            <a:ext cx="1524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00400" y="5573910"/>
            <a:ext cx="1524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30824" y="5573910"/>
            <a:ext cx="17145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56499" y="5573910"/>
            <a:ext cx="1524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425011" y="5573910"/>
            <a:ext cx="15240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22110" y="5573910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163960"/>
            <a:ext cx="952500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3859410"/>
            <a:ext cx="127635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987" y="3859410"/>
            <a:ext cx="196215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075" y="3297435"/>
            <a:ext cx="1762125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075" y="3859410"/>
            <a:ext cx="1762125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075" y="4421385"/>
            <a:ext cx="1762125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0" y="4068960"/>
            <a:ext cx="1495425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4100" y="4345185"/>
            <a:ext cx="1266825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3075" y="2078235"/>
            <a:ext cx="273367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Harness is the Governance 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NOTHING EXECUTES OUTSIDE THE HARNESS RUNTIME.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8325" y="4059435"/>
            <a:ext cx="76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6343" y="4059435"/>
            <a:ext cx="571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08281" y="4059435"/>
            <a:ext cx="571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3992760"/>
            <a:ext cx="1905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7012" y="3992760"/>
            <a:ext cx="152400" cy="1524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715625" y="3868935"/>
            <a:ext cx="19050" cy="38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05100" y="3430785"/>
            <a:ext cx="1143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05100" y="3992760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05100" y="4554735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06025" y="4202310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44125" y="4478535"/>
            <a:ext cx="1143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43075" y="5573910"/>
            <a:ext cx="842962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81287" y="5573910"/>
            <a:ext cx="714375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90912" y="5573910"/>
            <a:ext cx="15906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878460"/>
            <a:ext cx="723900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5" y="3878460"/>
            <a:ext cx="123825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275" y="3878460"/>
            <a:ext cx="162877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0" y="3878460"/>
            <a:ext cx="1285875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878460"/>
            <a:ext cx="108585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025" y="3878460"/>
            <a:ext cx="142875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9525" y="3878460"/>
            <a:ext cx="85725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4525" y="5021460"/>
            <a:ext cx="11430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3830835"/>
            <a:ext cx="400050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0775" y="4497585"/>
            <a:ext cx="342900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24775" y="5021460"/>
            <a:ext cx="657225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Graph Defines the Engineering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EXECUTION TOPOLOGY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44050" y="4011810"/>
            <a:ext cx="133350" cy="152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90650" y="4068960"/>
            <a:ext cx="381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4068960"/>
            <a:ext cx="381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38775" y="4068960"/>
            <a:ext cx="381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48525" y="4068960"/>
            <a:ext cx="381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0150" y="4068960"/>
            <a:ext cx="381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25150" y="4068960"/>
            <a:ext cx="571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15525" y="4307085"/>
            <a:ext cx="19050" cy="571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86525" y="5211960"/>
            <a:ext cx="304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86525" y="4354710"/>
            <a:ext cx="19050" cy="857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212" y="2236384"/>
            <a:ext cx="981075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825" y="3141259"/>
            <a:ext cx="1019175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25" y="4246159"/>
            <a:ext cx="109537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5151034"/>
            <a:ext cx="18669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125" y="4246159"/>
            <a:ext cx="600075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141259"/>
            <a:ext cx="85725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9200" y="3141259"/>
            <a:ext cx="154305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3937" y="5960659"/>
            <a:ext cx="1571625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0" y="3712759"/>
            <a:ext cx="1204912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0" y="3998509"/>
            <a:ext cx="1185862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When Engineering Fails — The System Recovers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ADAPTIVE RECOVERY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1000" y="2474509"/>
            <a:ext cx="3810000" cy="2857500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0" y="3331759"/>
            <a:ext cx="762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19750" y="5427259"/>
            <a:ext cx="19050" cy="571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124027"/>
            <a:ext cx="7620000" cy="95681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066627"/>
            <a:ext cx="5715000" cy="447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3085802"/>
            <a:ext cx="2857500" cy="466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5652343"/>
            <a:ext cx="19050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5652343"/>
            <a:ext cx="19050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0" y="5652343"/>
            <a:ext cx="19050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787" y="4047827"/>
            <a:ext cx="1876425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Agent Factory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FROM NATURAL LANGUAGE TO REUSABLE ENGINEERING WORKER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2562" y="3242964"/>
            <a:ext cx="1714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10137" y="4333577"/>
            <a:ext cx="2490311" cy="213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0" sz="1404" i="0" u="none">
                <a:solidFill>
                  <a:srgbClr val="0284C7"/>
                </a:solidFill>
                <a:latin typeface="Plus Jakarta Sans ExtraBold"/>
              </a:rPr>
              <a:t>Payment Refactoring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6475" y="2657177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3695402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0000" y="5366593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1250" y="5366593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72500" y="5366593"/>
            <a:ext cx="19050" cy="285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7506" y="4690318"/>
            <a:ext cx="1081087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1468" y="4690318"/>
            <a:ext cx="134302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7368" y="4690318"/>
            <a:ext cx="1252537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2781" y="4690318"/>
            <a:ext cx="2271712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770858"/>
            <a:ext cx="2920900" cy="118675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400" y="3770858"/>
            <a:ext cx="2921049" cy="11867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450" y="3770858"/>
            <a:ext cx="2920900" cy="11867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937" y="3180308"/>
            <a:ext cx="3286125" cy="59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The Engineering Capability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DECOUPLING WORKERS FROM THEIR TOOLS AND INTELLIGENCE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62" y="3399383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0503" y="3970883"/>
            <a:ext cx="2646893" cy="20568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b="0" sz="1350" i="0" u="none">
                <a:solidFill>
                  <a:srgbClr val="64748B"/>
                </a:solidFill>
                <a:latin typeface="Plus Jakarta Sans ExtraBold"/>
              </a:rP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2400" y="3970883"/>
            <a:ext cx="2647049" cy="20568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b="0" sz="1350" i="0" u="none">
                <a:solidFill>
                  <a:srgbClr val="64748B"/>
                </a:solidFill>
                <a:latin typeface="Plus Jakarta Sans ExtraBold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454" y="3970883"/>
            <a:ext cx="2646893" cy="20568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b="0" sz="1350" i="0" u="none">
                <a:solidFill>
                  <a:srgbClr val="64748B"/>
                </a:solidFill>
                <a:latin typeface="Plus Jakarta Sans ExtraBold"/>
              </a:rPr>
              <a:t>MODELS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9612" y="3999458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5801" y="3999458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6413" y="3999458"/>
            <a:ext cx="171450" cy="1714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29000" y="3627983"/>
            <a:ext cx="19050" cy="38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627983"/>
            <a:ext cx="19050" cy="38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3627983"/>
            <a:ext cx="19050" cy="38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8575" y="4319438"/>
            <a:ext cx="509587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4362" y="4319438"/>
            <a:ext cx="4191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9662" y="4319438"/>
            <a:ext cx="6000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55937" y="4319438"/>
            <a:ext cx="433387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9594" y="4576613"/>
            <a:ext cx="366712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72506" y="4576613"/>
            <a:ext cx="6858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9526" y="4319438"/>
            <a:ext cx="319087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14813" y="4319438"/>
            <a:ext cx="3619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2963" y="4319438"/>
            <a:ext cx="69532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4488" y="4319438"/>
            <a:ext cx="547687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79107" y="4576613"/>
            <a:ext cx="538162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3469" y="4576613"/>
            <a:ext cx="61912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90619" y="4319438"/>
            <a:ext cx="600075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66894" y="4319438"/>
            <a:ext cx="809625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2719" y="4319438"/>
            <a:ext cx="652462" cy="1809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07300" y="4576613"/>
            <a:ext cx="714375" cy="1809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97875" y="4576613"/>
            <a:ext cx="11906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5391150"/>
            <a:ext cx="1709737" cy="180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Greenfield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FROM BUSINESS REQUIREMENT TO RUNNING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7275" y="2242095"/>
            <a:ext cx="10077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86050" y="5772150"/>
            <a:ext cx="2457450" cy="152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Architecture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6050" y="5981700"/>
            <a:ext cx="2457450" cy="152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Domain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6050" y="6191250"/>
            <a:ext cx="2457450" cy="152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API Specs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6050" y="6400800"/>
            <a:ext cx="2457450" cy="152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Story Map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93" y="2080170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983" y="2080170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0485" y="208017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2537" y="2080170"/>
            <a:ext cx="1905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1732" y="208017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416" y="2080170"/>
            <a:ext cx="1905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6050" y="5786437"/>
            <a:ext cx="10477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6050" y="5995987"/>
            <a:ext cx="10477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6050" y="6205537"/>
            <a:ext cx="10477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6050" y="6415087"/>
            <a:ext cx="10477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668" y="1956345"/>
            <a:ext cx="552450" cy="4000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6958" y="1956345"/>
            <a:ext cx="514350" cy="4000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0460" y="1956345"/>
            <a:ext cx="552450" cy="4000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02512" y="1956345"/>
            <a:ext cx="590550" cy="4000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1707" y="1956345"/>
            <a:ext cx="552450" cy="4000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91391" y="1956345"/>
            <a:ext cx="590550" cy="4000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025" y="2499270"/>
            <a:ext cx="947737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37408" y="2499270"/>
            <a:ext cx="933450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79503" y="2499270"/>
            <a:ext cx="614362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59662" y="2499270"/>
            <a:ext cx="476250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77907" y="2499270"/>
            <a:ext cx="400050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62803" y="2499270"/>
            <a:ext cx="8477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37" y="4307085"/>
            <a:ext cx="120015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2" y="3459360"/>
            <a:ext cx="2381250" cy="1219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2" y="3636615"/>
            <a:ext cx="2857500" cy="8646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562" y="3578423"/>
            <a:ext cx="1571625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4140398"/>
            <a:ext cx="1571625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0" y="3550890"/>
            <a:ext cx="1062037" cy="180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Every Story is an Engineering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TEST CASES GENERATED AND APPROVED BEFORE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7837" y="3583185"/>
            <a:ext cx="7143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Plus Jakarta Sans ExtraBold"/>
              </a:rPr>
              <a:t>JIRA-101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7837" y="3945135"/>
            <a:ext cx="10953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 SemiBold"/>
              </a:rPr>
              <a:t>User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2087" y="3760440"/>
            <a:ext cx="2457450" cy="20568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900" i="0" u="none">
                <a:solidFill>
                  <a:srgbClr val="7C3AED"/>
                </a:solidFill>
                <a:latin typeface="JetBrains Mono SemiBold"/>
              </a:rPr>
              <a:t>TC-001: Valid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2087" y="3966120"/>
            <a:ext cx="2457450" cy="20568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900" i="0" u="none">
                <a:solidFill>
                  <a:srgbClr val="7C3AED"/>
                </a:solidFill>
                <a:latin typeface="JetBrains Mono SemiBold"/>
              </a:rPr>
              <a:t>TC-002: Duplicate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2087" y="4171801"/>
            <a:ext cx="2457450" cy="20568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900" i="0" u="none">
                <a:solidFill>
                  <a:srgbClr val="7C3AED"/>
                </a:solidFill>
                <a:latin typeface="JetBrains Mono SemiBold"/>
              </a:rPr>
              <a:t>TC-003: Invalid format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2587" y="3711773"/>
            <a:ext cx="1905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2587" y="4273748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2087" y="3760440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2087" y="396612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2087" y="4171801"/>
            <a:ext cx="133350" cy="152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310062" y="4059435"/>
            <a:ext cx="381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10562" y="4059435"/>
            <a:ext cx="381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074068"/>
            <a:ext cx="3333750" cy="398978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4017168"/>
            <a:ext cx="2838450" cy="971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2321718"/>
            <a:ext cx="283845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3169443"/>
            <a:ext cx="28384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275" y="3668910"/>
            <a:ext cx="1234082" cy="800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783" y="3773685"/>
            <a:ext cx="1313110" cy="590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2319" y="3773685"/>
            <a:ext cx="1453604" cy="590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0350" y="3859410"/>
            <a:ext cx="1190625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1988343"/>
            <a:ext cx="125730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Brownfield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AI UNDERSTANDS THE EXISTING SYSTEM BEFORE CHANGING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9175" y="2883693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9175" y="3731418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2455068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700" y="3302793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65178" y="3792735"/>
            <a:ext cx="676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JIRA-2456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6300" y="4059435"/>
            <a:ext cx="83403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 SemiBold"/>
              </a:rPr>
              <a:t>"Add retry logic"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2344" y="3992760"/>
            <a:ext cx="1905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0375" y="3992760"/>
            <a:ext cx="190500" cy="1524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914775" y="4068960"/>
            <a:ext cx="571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0857" y="4059435"/>
            <a:ext cx="2634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8394" y="4059435"/>
            <a:ext cx="2634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424" y="4059435"/>
            <a:ext cx="2634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163960"/>
            <a:ext cx="1209675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163960"/>
            <a:ext cx="13335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5554860"/>
            <a:ext cx="145732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7125" y="5554860"/>
            <a:ext cx="1476375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3592710"/>
            <a:ext cx="12573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3592710"/>
            <a:ext cx="13335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5375" y="3592710"/>
            <a:ext cx="2381250" cy="952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The Engineering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THE AI REMEMBERS THE SOFTWARE, NOT JUST THE CONVERSATION.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1687710"/>
            <a:ext cx="7620000" cy="4762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7775" y="395466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211710"/>
            <a:ext cx="1714500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840360"/>
            <a:ext cx="171450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335660"/>
            <a:ext cx="1714500" cy="400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150" y="3211710"/>
            <a:ext cx="1714500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150" y="3697485"/>
            <a:ext cx="171450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4150" y="4192785"/>
            <a:ext cx="171450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7275" y="3211710"/>
            <a:ext cx="1714500" cy="390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7275" y="3697485"/>
            <a:ext cx="171450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7275" y="4192785"/>
            <a:ext cx="171450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0400" y="3211710"/>
            <a:ext cx="1714500" cy="3905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0400" y="3697485"/>
            <a:ext cx="171450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0400" y="4192785"/>
            <a:ext cx="1714500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Pipelines Compose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PIPELINE = LIFECYCLE. HARNESS = GOVERNED CAPABILITY.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" y="3964185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" y="4459485"/>
            <a:ext cx="1714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4175" y="3821310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4175" y="4316610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67300" y="3821310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67300" y="4316610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10425" y="3821310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10425" y="4316610"/>
            <a:ext cx="152400" cy="1524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2438400" y="3402210"/>
            <a:ext cx="142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81525" y="3402210"/>
            <a:ext cx="142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4650" y="3402210"/>
            <a:ext cx="142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356586"/>
            <a:ext cx="5038725" cy="3333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356586"/>
            <a:ext cx="5038725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204311"/>
            <a:ext cx="444817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813911"/>
            <a:ext cx="4448175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423511"/>
            <a:ext cx="4448175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270861"/>
            <a:ext cx="1233487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7918" y="3292418"/>
            <a:ext cx="180975" cy="11668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7525" y="2270861"/>
            <a:ext cx="1971675" cy="205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This Is Not A Simulation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AI DECISIONS TRANSLATE TO ACTUAL ENGINEERING ACTIONS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3125" y="3880586"/>
            <a:ext cx="285750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67525" y="3332304"/>
            <a:ext cx="444817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ADE80"/>
                </a:solidFill>
                <a:latin typeface="JetBrains Mono"/>
              </a:rPr>
              <a:t>$ git checkout -b feature/retry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3515065"/>
            <a:ext cx="444817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94A3B8"/>
                </a:solidFill>
                <a:latin typeface="JetBrains Mono"/>
              </a:rPr>
              <a:t>&gt; Switched to a new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525" y="3793076"/>
            <a:ext cx="444817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ADE80"/>
                </a:solidFill>
                <a:latin typeface="JetBrains Mono"/>
              </a:rPr>
              <a:t>$ echo "..." &gt; PaymentService.java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525" y="4071086"/>
            <a:ext cx="444817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ADE80"/>
                </a:solidFill>
                <a:latin typeface="JetBrains Mono"/>
              </a:rPr>
              <a:t>$ mvn clean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525" y="4253847"/>
            <a:ext cx="444817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94A3B8"/>
                </a:solidFill>
                <a:latin typeface="JetBrains Mono"/>
              </a:rPr>
              <a:t>&gt; [INFO] Tests run: 48, Failures: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525" y="4531858"/>
            <a:ext cx="444817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900" i="0" u="none">
                <a:solidFill>
                  <a:srgbClr val="4ADE80"/>
                </a:solidFill>
                <a:latin typeface="JetBrains Mono"/>
              </a:rPr>
              <a:t>$ git commit -m "Update retry"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325" y="3337661"/>
            <a:ext cx="1905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325" y="3947261"/>
            <a:ext cx="1905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325" y="4556861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455370"/>
            <a:ext cx="11029950" cy="133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79095"/>
            <a:ext cx="552450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191" y="1779095"/>
            <a:ext cx="457200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2107" y="1779095"/>
            <a:ext cx="942975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799" y="1779095"/>
            <a:ext cx="457200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3715" y="1779095"/>
            <a:ext cx="666750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6182" y="1779095"/>
            <a:ext cx="723900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2369645"/>
            <a:ext cx="1871662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Every AI Action Produces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AI OUTPUT WITHOUT EVIDENCE IS AN OPINION. ENGINEERING EVIDENCE MAKES IT ACCOUNTABLE.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2703020"/>
            <a:ext cx="3384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latin typeface="JetBrains Mono"/>
              </a:rPr>
              <a:t>Harness ID: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dev-pipeline-v4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3675" y="2703020"/>
            <a:ext cx="3384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latin typeface="JetBrains Mono"/>
              </a:rPr>
              <a:t>Agent ID: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coding-agent-gpt4o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8675" y="2703020"/>
            <a:ext cx="33846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latin typeface="JetBrains Mono"/>
              </a:rPr>
              <a:t>Commit Hash: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9f86d081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3045920"/>
            <a:ext cx="3384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latin typeface="JetBrains Mono"/>
              </a:rPr>
              <a:t>Files Changed: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3 (PaymentService.java...)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3675" y="3045920"/>
            <a:ext cx="3384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latin typeface="JetBrains Mono"/>
              </a:rPr>
              <a:t>Tests Run: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48 / 48 PASSED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8675" y="3045920"/>
            <a:ext cx="33846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latin typeface="JetBrains Mono"/>
              </a:rPr>
              <a:t>SonarQube: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PASSED (0 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3388820"/>
            <a:ext cx="3384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latin typeface="JetBrains Mono"/>
              </a:rPr>
              <a:t>Risk Score: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3675" y="3388820"/>
            <a:ext cx="3384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latin typeface="JetBrains Mono"/>
              </a:rPr>
              <a:t>Approval: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AUTO-APPROVED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61083" y="1917208"/>
            <a:ext cx="190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63999" y="1917208"/>
            <a:ext cx="190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2691" y="1917208"/>
            <a:ext cx="190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607" y="1917208"/>
            <a:ext cx="190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68073" y="1917208"/>
            <a:ext cx="190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612" y="1694569"/>
            <a:ext cx="1504950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462" y="2542294"/>
            <a:ext cx="238125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462" y="3390019"/>
            <a:ext cx="238125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462" y="4237744"/>
            <a:ext cx="23812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462" y="5085469"/>
            <a:ext cx="238125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462" y="5933194"/>
            <a:ext cx="238125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2762" y="2742319"/>
            <a:ext cx="2009775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2762" y="3456694"/>
            <a:ext cx="2009775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2762" y="4171069"/>
            <a:ext cx="2009775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2762" y="4885444"/>
            <a:ext cx="2009775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Governance by 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EMBEDDED INTO EXECUTION, NOT BOLTED ON AFTER.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57637" y="1827919"/>
            <a:ext cx="1905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9525" y="2675644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95737" y="3523369"/>
            <a:ext cx="1143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38600" y="4371094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71912" y="5218819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2787" y="2875669"/>
            <a:ext cx="1714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62787" y="3590044"/>
            <a:ext cx="1905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62787" y="4304419"/>
            <a:ext cx="1714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62787" y="5018794"/>
            <a:ext cx="152400" cy="1524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00562" y="2256544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0562" y="3104269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00562" y="3951994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00562" y="4799719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00562" y="5647444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249810"/>
            <a:ext cx="2614612" cy="1638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3249810"/>
            <a:ext cx="2614612" cy="1638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3249810"/>
            <a:ext cx="2614612" cy="1638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362" y="3249810"/>
            <a:ext cx="2614612" cy="1638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518" y="3497460"/>
            <a:ext cx="809625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675" y="3497460"/>
            <a:ext cx="871537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0" y="3497460"/>
            <a:ext cx="595312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5987" y="3497460"/>
            <a:ext cx="995362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Engineering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MEASURING THE IMPACT OF THE AI ENGINEERING FACTORY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2531" y="3821310"/>
            <a:ext cx="137160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7C3AED"/>
                </a:solidFill>
                <a:latin typeface="Plus Jakarta Sans ExtraBold"/>
              </a:rPr>
              <a:t>-60%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8743" y="4497585"/>
            <a:ext cx="1019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Idea to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6693" y="3821310"/>
            <a:ext cx="133350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10B981"/>
                </a:solidFill>
                <a:latin typeface="Plus Jakarta Sans ExtraBold"/>
              </a:rPr>
              <a:t>-85%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3368" y="4497585"/>
            <a:ext cx="1200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Pre-deployment bugs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2743" y="3821310"/>
            <a:ext cx="1571625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0284C7"/>
                </a:solidFill>
                <a:latin typeface="Plus Jakarta Sans ExtraBold"/>
              </a:rPr>
              <a:t>+$0.15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2281" y="4497585"/>
            <a:ext cx="1352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Avg Token Cost per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7418" y="3821310"/>
            <a:ext cx="95250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0F172A"/>
                </a:solidFill>
                <a:latin typeface="Plus Jakarta Sans ExtraBold"/>
              </a:rPr>
              <a:t>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36943" y="4497585"/>
            <a:ext cx="933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Intervention Rate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3116460"/>
            <a:ext cx="704850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2735460"/>
            <a:ext cx="104775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2735460"/>
            <a:ext cx="92392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0" y="3116460"/>
            <a:ext cx="9334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050" y="4602360"/>
            <a:ext cx="10287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4983360"/>
            <a:ext cx="1114425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0" y="4983360"/>
            <a:ext cx="828675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0" y="3830835"/>
            <a:ext cx="1924050" cy="447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3656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Closed Loop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899070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Medium"/>
              </a:rPr>
              <a:t>THE FACTORY CONTINUOUSLY LEARNS FROM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2250" y="3116460"/>
            <a:ext cx="6667500" cy="19050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4087" y="3449835"/>
            <a:ext cx="13201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"/>
              </a:rPr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4087" y="4783335"/>
            <a:ext cx="13201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"/>
              </a:rPr>
              <a:t>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1218162"/>
            <a:ext cx="971550" cy="419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1218162"/>
            <a:ext cx="1066800" cy="419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4228062"/>
            <a:ext cx="9906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0" y="4228062"/>
            <a:ext cx="7620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456412"/>
            <a:ext cx="866775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9100" y="2456412"/>
            <a:ext cx="7239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6687" y="2527850"/>
            <a:ext cx="4238625" cy="809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500" y="1027662"/>
            <a:ext cx="5715000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35630" y="5218662"/>
            <a:ext cx="592074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2400" i="0" u="none">
                <a:solidFill>
                  <a:srgbClr val="7C3AED"/>
                </a:solidFill>
                <a:latin typeface="Plus Jakarta Sans ExtraBold"/>
              </a:rPr>
              <a:t>“We don't just build AI agents.</a:t>
            </a:r>
            <a:r>
              <a:t>
</a:t>
            </a:r>
            <a:r>
              <a:rPr b="0" sz="2400" i="0" u="none">
                <a:solidFill>
                  <a:srgbClr val="7C3AED"/>
                </a:solidFill>
                <a:latin typeface="Plus Jakarta Sans ExtraBold"/>
              </a:rPr>
              <a:t> We engineer how AI builds software.”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